
<file path=[Content_Types].xml><?xml version="1.0" encoding="utf-8"?>
<Types xmlns="http://schemas.openxmlformats.org/package/2006/content-types"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15"/>
    <p:sldId id="257" r:id="rId3"/>
    <p:sldId id="258" r:id="rId4"/>
    <p:sldId id="259" r:id="rId5"/>
    <p:sldId id="261" r:id="rId7"/>
    <p:sldId id="262" r:id="rId8"/>
    <p:sldId id="263" r:id="rId9"/>
    <p:sldId id="264" r:id="rId10"/>
    <p:sldId id="265" r:id="rId11"/>
    <p:sldId id="267" r:id="rId1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3E15C14-2A7D-40C0-B2EF-A45BD71A4DF3}"/>
              </a:ext>
            </a:extLst>
          </p:cNvPr>
          <p:cNvSpPr txBox="1"/>
          <p:nvPr/>
        </p:nvSpPr>
        <p:spPr>
          <a:xfrm>
            <a:off x="762000" y="533400"/>
            <a:ext cx="3810000" cy="22860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63707E"/>
                </a:solidFill>
                <a:latin typeface="Consolas"/>
                <a:ea typeface="Consolas"/>
              </a:rPr>
              <a:t>O PROBLEMA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86A952A-2C9B-40AE-85F7-4EA24A4D222F}"/>
              </a:ext>
            </a:extLst>
          </p:cNvPr>
          <p:cNvSpPr txBox="1"/>
          <p:nvPr/>
        </p:nvSpPr>
        <p:spPr>
          <a:xfrm>
            <a:off x="762000" y="800100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000" b="1">
                <a:solidFill>
                  <a:srgbClr val="D9E2EC"/>
                </a:solidFill>
                <a:latin typeface="Segoe UI"/>
                <a:ea typeface="Segoe UI"/>
              </a:rPr>
              <a:t>Onde o Active Directory vira dívida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34B4C1-304F-4CE7-B542-745FC058ED56}"/>
              </a:ext>
            </a:extLst>
          </p:cNvPr>
          <p:cNvSpPr txBox="1"/>
          <p:nvPr/>
        </p:nvSpPr>
        <p:spPr>
          <a:xfrm>
            <a:off x="762000" y="1447800"/>
            <a:ext cx="5334000" cy="323850"/>
          </a:xfrm>
        </p:spPr>
        <p:txBody>
          <a:bodyPr wrap="square" rtlCol="0" lIns="0" tIns="0" rIns="0" bIns="0" anchor="ctr"/>
          <a:lstStyle/>
          <a:p>
            <a:pPr algn="l"/>
            <a:r>
              <a:rPr sz="1600" b="1">
                <a:solidFill>
                  <a:srgbClr val="8B99A8"/>
                </a:solidFill>
                <a:latin typeface="Segoe UI"/>
                <a:ea typeface="Segoe UI"/>
              </a:rPr>
              <a:t>Operação reativa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B7B5DC1-6C7E-4605-B34A-C783B62137CD}"/>
              </a:ext>
            </a:extLst>
          </p:cNvPr>
          <p:cNvSpPr txBox="1"/>
          <p:nvPr/>
        </p:nvSpPr>
        <p:spPr>
          <a:xfrm>
            <a:off x="6477000" y="1447800"/>
            <a:ext cx="5334000" cy="323850"/>
          </a:xfrm>
        </p:spPr>
        <p:txBody>
          <a:bodyPr wrap="square" rtlCol="0" lIns="0" tIns="0" rIns="0" bIns="0" anchor="ctr"/>
          <a:lstStyle/>
          <a:p>
            <a:pPr algn="l"/>
            <a:r>
              <a:rPr sz="1600" b="1">
                <a:solidFill>
                  <a:srgbClr val="4EA1FF"/>
                </a:solidFill>
                <a:latin typeface="Segoe UI"/>
                <a:ea typeface="Segoe UI"/>
              </a:rPr>
              <a:t>Operação declarativa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FC63AEF-1FD5-48D4-A31D-A3E7C1985931}"/>
              </a:ext>
            </a:extLst>
          </p:cNvPr>
          <p:cNvSpPr/>
          <p:nvPr/>
        </p:nvSpPr>
        <p:spPr>
          <a:xfrm>
            <a:off x="762000" y="1866900"/>
            <a:ext cx="5334000" cy="3143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EC8998A-FD54-4B64-8ABC-135B7EFB4A20}"/>
              </a:ext>
            </a:extLst>
          </p:cNvPr>
          <p:cNvSpPr txBox="1"/>
          <p:nvPr/>
        </p:nvSpPr>
        <p:spPr>
          <a:xfrm>
            <a:off x="1047750" y="2057400"/>
            <a:ext cx="4762500" cy="2762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Recertificação em planilha</a:t>
            </a:r>
          </a:p>
          <a:p>
            <a:pPr algn="l">
              <a:spcAft>
                <a:spcPts val="1400"/>
              </a:spcAft>
            </a:pPr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Quem deveria perder acesso só aparece na auditoria.</a:t>
            </a:r>
          </a:p>
          <a:p>
            <a:pPr algn="l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Offboarding parcial</a:t>
            </a:r>
          </a:p>
          <a:p>
            <a:pPr algn="l">
              <a:spcAft>
                <a:spcPts val="1400"/>
              </a:spcAft>
            </a:pPr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A conta é desativada e o vínculo crítico fica no AD.</a:t>
            </a:r>
          </a:p>
          <a:p>
            <a:pPr algn="l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Concessão por pedido verbal</a:t>
            </a:r>
          </a:p>
          <a:p>
            <a:pPr algn="l">
              <a:spcAft>
                <a:spcPts val="1400"/>
              </a:spcAft>
            </a:pPr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Sem justificativa, sem prazo, sem aprovador separado.</a:t>
            </a:r>
          </a:p>
          <a:p>
            <a:pPr algn="l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Log reescrevível</a:t>
            </a:r>
          </a:p>
          <a:p>
            <a:pPr algn="l"/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Nada prova que a trilha não foi editada depois.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F989C3D-AC15-42D2-8188-3629B66D6B36}"/>
              </a:ext>
            </a:extLst>
          </p:cNvPr>
          <p:cNvSpPr/>
          <p:nvPr/>
        </p:nvSpPr>
        <p:spPr>
          <a:xfrm>
            <a:off x="6477000" y="1866900"/>
            <a:ext cx="5334000" cy="314325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DD704DC-13D5-4B47-B63E-B32A3422952E}"/>
              </a:ext>
            </a:extLst>
          </p:cNvPr>
          <p:cNvSpPr txBox="1"/>
          <p:nvPr/>
        </p:nvSpPr>
        <p:spPr>
          <a:xfrm>
            <a:off x="6762750" y="2057400"/>
            <a:ext cx="4762500" cy="276225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4EA1FF"/>
                </a:solidFill>
                <a:latin typeface="Segoe UI"/>
                <a:ea typeface="Segoe UI"/>
              </a:rPr>
              <a:t>Estado desejado no git</a:t>
            </a:r>
          </a:p>
          <a:p>
            <a:pPr algn="l">
              <a:spcAft>
                <a:spcPts val="14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O diff é calculado contra o diretório, não lembrado.</a:t>
            </a:r>
          </a:p>
          <a:p>
            <a:pPr algn="l"/>
            <a:r>
              <a:rPr sz="1400" b="1">
                <a:solidFill>
                  <a:srgbClr val="4EA1FF"/>
                </a:solidFill>
                <a:latin typeface="Segoe UI"/>
                <a:ea typeface="Segoe UI"/>
              </a:rPr>
              <a:t>Menor privilégio por setor</a:t>
            </a:r>
          </a:p>
          <a:p>
            <a:pPr algn="l">
              <a:spcAft>
                <a:spcPts val="14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Vínculo não declarado vira revogação dentro do plano.</a:t>
            </a:r>
          </a:p>
          <a:p>
            <a:pPr algn="l"/>
            <a:r>
              <a:rPr sz="1400" b="1">
                <a:solidFill>
                  <a:srgbClr val="4EA1FF"/>
                </a:solidFill>
                <a:latin typeface="Segoe UI"/>
                <a:ea typeface="Segoe UI"/>
              </a:rPr>
              <a:t>Aprovação com segregação</a:t>
            </a:r>
          </a:p>
          <a:p>
            <a:pPr algn="l">
              <a:spcAft>
                <a:spcPts val="14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Aprovador sempre distinto do solicitante, por regra.</a:t>
            </a:r>
          </a:p>
          <a:p>
            <a:pPr algn="l"/>
            <a:r>
              <a:rPr sz="1400" b="1">
                <a:solidFill>
                  <a:srgbClr val="4EA1FF"/>
                </a:solidFill>
                <a:latin typeface="Segoe UI"/>
                <a:ea typeface="Segoe UI"/>
              </a:rPr>
              <a:t>Reversão pelo diário</a:t>
            </a:r>
          </a:p>
          <a:p>
            <a:pPr algn="l"/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Estado anterior em JSON e o script desfaz a aplicação.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3A101F0-75F6-4EAD-82AC-704851A4EE37}"/>
              </a:ext>
            </a:extLst>
          </p:cNvPr>
          <p:cNvSpPr txBox="1"/>
          <p:nvPr/>
        </p:nvSpPr>
        <p:spPr>
          <a:xfrm>
            <a:off x="762000" y="5334000"/>
            <a:ext cx="10668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63707E"/>
                </a:solidFill>
                <a:latin typeface="Consolas"/>
                <a:ea typeface="Consolas"/>
              </a:rPr>
              <a:t>Inventário de demonstração: 36 contas · 10 grupos · 5 OUs · 29 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23C63A7-9D0E-40B9-9B1C-E4418F05ED0B}"/>
              </a:ext>
            </a:extLst>
          </p:cNvPr>
          <p:cNvSpPr txBox="1"/>
          <p:nvPr/>
        </p:nvSpPr>
        <p:spPr>
          <a:xfrm>
            <a:off x="762000" y="533400"/>
            <a:ext cx="3810000" cy="22860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63707E"/>
                </a:solidFill>
                <a:latin typeface="Consolas"/>
                <a:ea typeface="Consolas"/>
              </a:rPr>
              <a:t>ARQUITETURA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BF46999-D12C-4CC9-8C77-6A68D0C40EE2}"/>
              </a:ext>
            </a:extLst>
          </p:cNvPr>
          <p:cNvSpPr txBox="1"/>
          <p:nvPr/>
        </p:nvSpPr>
        <p:spPr>
          <a:xfrm>
            <a:off x="762000" y="800100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000" b="1">
                <a:solidFill>
                  <a:srgbClr val="D9E2EC"/>
                </a:solidFill>
                <a:latin typeface="Segoe UI"/>
                <a:ea typeface="Segoe UI"/>
              </a:rPr>
              <a:t>O pipeline, de cima a baixo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30F9615-573A-4151-BFC5-23685ABC4AC5}"/>
              </a:ext>
            </a:extLst>
          </p:cNvPr>
          <p:cNvSpPr txBox="1"/>
          <p:nvPr/>
        </p:nvSpPr>
        <p:spPr>
          <a:xfrm>
            <a:off x="762000" y="2000250"/>
            <a:ext cx="1809750" cy="38100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Estado desejado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9D830DB-B4D7-4473-8A78-CA8349EC9D55}"/>
              </a:ext>
            </a:extLst>
          </p:cNvPr>
          <p:cNvSpPr txBox="1"/>
          <p:nvPr/>
        </p:nvSpPr>
        <p:spPr>
          <a:xfrm>
            <a:off x="2590800" y="2000250"/>
            <a:ext cx="1809750" cy="38100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Diff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EA0F767-42DF-4539-8D41-AD4DAD056579}"/>
              </a:ext>
            </a:extLst>
          </p:cNvPr>
          <p:cNvSpPr txBox="1"/>
          <p:nvPr/>
        </p:nvSpPr>
        <p:spPr>
          <a:xfrm>
            <a:off x="4419600" y="2000250"/>
            <a:ext cx="1809750" cy="38100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Plano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22AF414-470A-4B56-8155-7DC17571150F}"/>
              </a:ext>
            </a:extLst>
          </p:cNvPr>
          <p:cNvSpPr txBox="1"/>
          <p:nvPr/>
        </p:nvSpPr>
        <p:spPr>
          <a:xfrm>
            <a:off x="6248400" y="2000250"/>
            <a:ext cx="1809750" cy="38100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PowerShell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2A11386-E54F-4CDC-A905-6F2D5626CC86}"/>
              </a:ext>
            </a:extLst>
          </p:cNvPr>
          <p:cNvSpPr txBox="1"/>
          <p:nvPr/>
        </p:nvSpPr>
        <p:spPr>
          <a:xfrm>
            <a:off x="8077200" y="2000250"/>
            <a:ext cx="1809750" cy="38100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Aplicação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E023E2-12F6-499B-92AD-7D34892A261B}"/>
              </a:ext>
            </a:extLst>
          </p:cNvPr>
          <p:cNvSpPr txBox="1"/>
          <p:nvPr/>
        </p:nvSpPr>
        <p:spPr>
          <a:xfrm>
            <a:off x="9906000" y="2000250"/>
            <a:ext cx="1809750" cy="381000"/>
          </a:xfrm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D9E2EC"/>
                </a:solidFill>
                <a:latin typeface="Segoe UI"/>
                <a:ea typeface="Segoe UI"/>
              </a:rPr>
              <a:t>Governança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54709B4-FF2E-434B-8EC5-BC9491E2ADC4}"/>
              </a:ext>
            </a:extLst>
          </p:cNvPr>
          <p:cNvSpPr/>
          <p:nvPr/>
        </p:nvSpPr>
        <p:spPr>
          <a:xfrm>
            <a:off x="762000" y="2457450"/>
            <a:ext cx="1809750" cy="533400"/>
          </a:xfrm>
          <a:prstGeom prst="chevron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C79AF92D-8DE3-4A47-A7A9-3A5496747374}"/>
              </a:ext>
            </a:extLst>
          </p:cNvPr>
          <p:cNvSpPr/>
          <p:nvPr/>
        </p:nvSpPr>
        <p:spPr>
          <a:xfrm>
            <a:off x="2590800" y="2457450"/>
            <a:ext cx="1809750" cy="533400"/>
          </a:xfrm>
          <a:prstGeom prst="chevron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C1AC9D29-1210-4F3A-8E8D-68BD02CAEFEC}"/>
              </a:ext>
            </a:extLst>
          </p:cNvPr>
          <p:cNvSpPr/>
          <p:nvPr/>
        </p:nvSpPr>
        <p:spPr>
          <a:xfrm>
            <a:off x="4419600" y="2457450"/>
            <a:ext cx="1809750" cy="533400"/>
          </a:xfrm>
          <a:prstGeom prst="chevron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74BD27E-483B-4EB5-B7F2-521DC35631AC}"/>
              </a:ext>
            </a:extLst>
          </p:cNvPr>
          <p:cNvSpPr/>
          <p:nvPr/>
        </p:nvSpPr>
        <p:spPr>
          <a:xfrm>
            <a:off x="6248400" y="2457450"/>
            <a:ext cx="1809750" cy="533400"/>
          </a:xfrm>
          <a:prstGeom prst="chevron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8CA04FD-0F39-47B8-834D-FE66C930EB3F}"/>
              </a:ext>
            </a:extLst>
          </p:cNvPr>
          <p:cNvSpPr/>
          <p:nvPr/>
        </p:nvSpPr>
        <p:spPr>
          <a:xfrm>
            <a:off x="8077200" y="2457450"/>
            <a:ext cx="1809750" cy="533400"/>
          </a:xfrm>
          <a:prstGeom prst="chevron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FDB5771-BB35-4002-992E-6F0A3B79E2B5}"/>
              </a:ext>
            </a:extLst>
          </p:cNvPr>
          <p:cNvSpPr/>
          <p:nvPr/>
        </p:nvSpPr>
        <p:spPr>
          <a:xfrm>
            <a:off x="9906000" y="2457450"/>
            <a:ext cx="1809750" cy="533400"/>
          </a:xfrm>
          <a:prstGeom prst="chevron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E843463-A7CB-499A-931E-0AEE90A9BDF9}"/>
              </a:ext>
            </a:extLst>
          </p:cNvPr>
          <p:cNvSpPr txBox="1"/>
          <p:nvPr/>
        </p:nvSpPr>
        <p:spPr>
          <a:xfrm>
            <a:off x="809625" y="3124200"/>
            <a:ext cx="17145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iac.js</a:t>
            </a:r>
          </a:p>
          <a:p>
            <a:pPr algn="ctr">
              <a:lnSpc>
                <a:spcPct val="13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DSL com blocos usuario e grupo; erro por linha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0EE7989-913D-430C-ADE5-DF29463D30AE}"/>
              </a:ext>
            </a:extLst>
          </p:cNvPr>
          <p:cNvSpPr txBox="1"/>
          <p:nvPr/>
        </p:nvSpPr>
        <p:spPr>
          <a:xfrm>
            <a:off x="2638425" y="3124200"/>
            <a:ext cx="17145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iac.js</a:t>
            </a:r>
          </a:p>
          <a:p>
            <a:pPr algn="ctr">
              <a:lnSpc>
                <a:spcPct val="13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compara com o diretório e tipa cada operação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E74FB25-B507-4BFE-8F93-7F6419262EDD}"/>
              </a:ext>
            </a:extLst>
          </p:cNvPr>
          <p:cNvSpPr txBox="1"/>
          <p:nvPr/>
        </p:nvSpPr>
        <p:spPr>
          <a:xfrm>
            <a:off x="4467225" y="3124200"/>
            <a:ext cx="17145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iac.js</a:t>
            </a:r>
          </a:p>
          <a:p>
            <a:pPr algn="ctr">
              <a:lnSpc>
                <a:spcPct val="13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ordem por dependência, risco e assinatura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E73DBE9-17DF-4313-85F4-A932F1182D2D}"/>
              </a:ext>
            </a:extLst>
          </p:cNvPr>
          <p:cNvSpPr txBox="1"/>
          <p:nvPr/>
        </p:nvSpPr>
        <p:spPr>
          <a:xfrm>
            <a:off x="6296025" y="3124200"/>
            <a:ext cx="17145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iac.js</a:t>
            </a:r>
          </a:p>
          <a:p>
            <a:pPr algn="ctr">
              <a:lnSpc>
                <a:spcPct val="13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script com -WhatIf, transcript e diário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3EA3D3A-044C-4A0F-A4DA-2DE6A124B60B}"/>
              </a:ext>
            </a:extLst>
          </p:cNvPr>
          <p:cNvSpPr txBox="1"/>
          <p:nvPr/>
        </p:nvSpPr>
        <p:spPr>
          <a:xfrm>
            <a:off x="8124825" y="3124200"/>
            <a:ext cx="17145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execucao.js</a:t>
            </a:r>
          </a:p>
          <a:p>
            <a:pPr algn="ctr">
              <a:lnSpc>
                <a:spcPct val="13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escreve no diretório e guarda o antes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188D888-7015-4D4A-B709-329C637201F0}"/>
              </a:ext>
            </a:extLst>
          </p:cNvPr>
          <p:cNvSpPr txBox="1"/>
          <p:nvPr/>
        </p:nvSpPr>
        <p:spPr>
          <a:xfrm>
            <a:off x="9953625" y="3124200"/>
            <a:ext cx="17145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governanca.js</a:t>
            </a:r>
          </a:p>
          <a:p>
            <a:pPr algn="ctr">
              <a:lnSpc>
                <a:spcPct val="13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SoD, menor privilégio e dormentes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BBC2310-CC8B-4FE0-A78D-8AC6B8B1AC67}"/>
              </a:ext>
            </a:extLst>
          </p:cNvPr>
          <p:cNvSpPr txBox="1"/>
          <p:nvPr/>
        </p:nvSpPr>
        <p:spPr>
          <a:xfrm>
            <a:off x="762000" y="4095750"/>
            <a:ext cx="10668000" cy="1047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63707E"/>
                </a:solidFill>
                <a:latin typeface="Consolas"/>
                <a:ea typeface="Consolas"/>
              </a:rPr>
              <a:t>auditoria em store.js fecha o ciclo · painel, diretório, estado desejado, execução, script, governança e auditoria são as 7 views do console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9D5FFFAA-3B8A-43E9-B388-AD8F7B583E54}"/>
              </a:ext>
            </a:extLst>
          </p:cNvPr>
          <p:cNvSpPr/>
          <p:nvPr/>
        </p:nvSpPr>
        <p:spPr>
          <a:xfrm>
            <a:off x="762000" y="4857750"/>
            <a:ext cx="10668000" cy="123825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09B6216E-1C8C-4C1E-872F-ACD371C58388}"/>
              </a:ext>
            </a:extLst>
          </p:cNvPr>
          <p:cNvSpPr txBox="1"/>
          <p:nvPr/>
        </p:nvSpPr>
        <p:spPr>
          <a:xfrm>
            <a:off x="1143000" y="5029200"/>
            <a:ext cx="9906000" cy="991108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00" b="1">
                <a:solidFill>
                  <a:srgbClr val="4EA1FF"/>
                </a:solidFill>
                <a:latin typeface="Segoe UI"/>
                <a:ea typeface="Segoe UI"/>
              </a:rPr>
              <a:t>Idempotência por construção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D9E2EC"/>
                </a:solidFill>
                <a:latin typeface="Segoe UI"/>
                <a:ea typeface="Segoe UI"/>
              </a:rPr>
              <a:t>Aplicar o plano duas vezes devolve zero operações: as guardas Get-ADUser -Filter e Get-ADGroupMember -Recursive decidem antes de escrever, e o que já está conforme vira no-op no diário.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BDFA681-F7B0-4CEE-9773-3697C6523EDA}"/>
              </a:ext>
            </a:extLst>
          </p:cNvPr>
          <p:cNvSpPr txBox="1"/>
          <p:nvPr/>
        </p:nvSpPr>
        <p:spPr>
          <a:xfrm>
            <a:off x="762000" y="533400"/>
            <a:ext cx="3810000" cy="22860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63707E"/>
                </a:solidFill>
                <a:latin typeface="Consolas"/>
                <a:ea typeface="Consolas"/>
              </a:rPr>
              <a:t>DECLARAÇÃO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DC66106-F123-4A9D-BAAA-21D5B3FCD7A2}"/>
              </a:ext>
            </a:extLst>
          </p:cNvPr>
          <p:cNvSpPr txBox="1"/>
          <p:nvPr/>
        </p:nvSpPr>
        <p:spPr>
          <a:xfrm>
            <a:off x="762000" y="800100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000" b="1">
                <a:solidFill>
                  <a:srgbClr val="D9E2EC"/>
                </a:solidFill>
                <a:latin typeface="Segoe UI"/>
                <a:ea typeface="Segoe UI"/>
              </a:rPr>
              <a:t>Declarar em vez de executar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B63F1B9-F017-41DC-9394-57754880B648}"/>
              </a:ext>
            </a:extLst>
          </p:cNvPr>
          <p:cNvSpPr txBox="1"/>
          <p:nvPr/>
        </p:nvSpPr>
        <p:spPr>
          <a:xfrm>
            <a:off x="762000" y="1352550"/>
            <a:ext cx="5715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4EA1FF"/>
                </a:solidFill>
                <a:latin typeface="Consolas"/>
                <a:ea typeface="Consolas"/>
              </a:rPr>
              <a:t>estado-desejado.txt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857A54E-5A0D-438A-87A6-3D8C6A0DF579}"/>
              </a:ext>
            </a:extLst>
          </p:cNvPr>
          <p:cNvSpPr txBox="1"/>
          <p:nvPr/>
        </p:nvSpPr>
        <p:spPr>
          <a:xfrm>
            <a:off x="6858000" y="1352550"/>
            <a:ext cx="4572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validador com erro por linha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0E5BC86-DCAE-4183-999C-988FDFBB1E9A}"/>
              </a:ext>
            </a:extLst>
          </p:cNvPr>
          <p:cNvSpPr/>
          <p:nvPr/>
        </p:nvSpPr>
        <p:spPr>
          <a:xfrm>
            <a:off x="762000" y="1676400"/>
            <a:ext cx="5715000" cy="409575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8DE7E1C-9EF0-44CB-9AF1-57B3A95DCB28}"/>
              </a:ext>
            </a:extLst>
          </p:cNvPr>
          <p:cNvSpPr txBox="1"/>
          <p:nvPr/>
        </p:nvSpPr>
        <p:spPr>
          <a:xfrm>
            <a:off x="1047750" y="1866900"/>
            <a:ext cx="5143500" cy="3714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</a:pPr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usuario ana.melo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D9E2EC"/>
                </a:solidFill>
                <a:latin typeface="Consolas"/>
                <a:ea typeface="Consolas"/>
              </a:rPr>
              <a:t>  nome   = Ana Beatriz Melo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D9E2EC"/>
                </a:solidFill>
                <a:latin typeface="Consolas"/>
                <a:ea typeface="Consolas"/>
              </a:rPr>
              <a:t>  ou     = OU=Financeiro,OU=Matriz,DC=contoso,DC=local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D9E2EC"/>
                </a:solidFill>
                <a:latin typeface="Consolas"/>
                <a:ea typeface="Consolas"/>
              </a:rPr>
              <a:t>  ativo  = true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>
                <a:solidFill>
                  <a:srgbClr val="D9E2EC"/>
                </a:solidFill>
                <a:latin typeface="Consolas"/>
                <a:ea typeface="Consolas"/>
              </a:rPr>
              <a:t>  grupos = GG_FINANCEIRO_APROVAR, GG_CONHAS_CONSULTA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grupo GG_TI_HISTORICO_LOG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D9E2EC"/>
                </a:solidFill>
                <a:latin typeface="Consolas"/>
                <a:ea typeface="Consolas"/>
              </a:rPr>
              <a:t>  escopo    = Global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D9E2EC"/>
                </a:solidFill>
                <a:latin typeface="Consolas"/>
                <a:ea typeface="Consolas"/>
              </a:rPr>
              <a:t>  critico   = false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00">
                <a:solidFill>
                  <a:srgbClr val="D9E2EC"/>
                </a:solidFill>
                <a:latin typeface="Consolas"/>
                <a:ea typeface="Consolas"/>
              </a:rPr>
              <a:t>  descricao = Leitura de log por 90 dias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F0639A"/>
                </a:solidFill>
                <a:latin typeface="Consolas"/>
                <a:ea typeface="Consolas"/>
              </a:rPr>
              <a:t>remover usuario bruno.tavares</a:t>
            </a:r>
          </a:p>
          <a:p>
            <a:pPr algn="l">
              <a:lnSpc>
                <a:spcPct val="145000"/>
              </a:lnSpc>
            </a:pPr>
            <a:r>
              <a:rPr sz="1200">
                <a:solidFill>
                  <a:srgbClr val="63707E"/>
                </a:solidFill>
                <a:latin typeface="Consolas"/>
                <a:ea typeface="Consolas"/>
              </a:rPr>
              <a:t># desligamento homologado pelo gestor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A428F06-5AA1-46E6-9FF2-2AD9F91F646D}"/>
              </a:ext>
            </a:extLst>
          </p:cNvPr>
          <p:cNvSpPr/>
          <p:nvPr/>
        </p:nvSpPr>
        <p:spPr>
          <a:xfrm>
            <a:off x="6858000" y="1676400"/>
            <a:ext cx="4572000" cy="40957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CA80E18-8676-41FF-AB47-E13C72370F97}"/>
              </a:ext>
            </a:extLst>
          </p:cNvPr>
          <p:cNvSpPr txBox="1"/>
          <p:nvPr/>
        </p:nvSpPr>
        <p:spPr>
          <a:xfrm>
            <a:off x="7143750" y="1866900"/>
            <a:ext cx="4000500" cy="3714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5000"/>
              </a:lnSpc>
              <a:spcAft>
                <a:spcPts val="1200"/>
              </a:spcAft>
            </a:pPr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Sete checagens antes de qualquer plano: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1. linha fora de bloco ou atributo sem recuo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2. bloco duplicado para o mesmo alvo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3. grupo usado sem estar declarado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4. atributo inválido para usuario ou grupo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5. true ou false esperado em ativo e critico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>
                <a:solidFill>
                  <a:srgbClr val="D9E2EC"/>
                </a:solidFill>
                <a:latin typeface="Segoe UI"/>
                <a:ea typeface="Segoe UI"/>
              </a:rPr>
              <a:t>6. conta sem ou: cria bloco com revisão obrigatória</a:t>
            </a:r>
          </a:p>
          <a:p>
            <a:pPr algn="l">
              <a:lnSpc>
                <a:spcPct val="150000"/>
              </a:lnSpc>
            </a:pPr>
            <a:r>
              <a:rPr sz="1250">
                <a:solidFill>
                  <a:srgbClr val="F0639A"/>
                </a:solidFill>
                <a:latin typeface="Segoe UI"/>
                <a:ea typeface="Segoe UI"/>
              </a:rPr>
              <a:t>7. todo erro aponta o número da linha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0BB1F77-47D9-4847-ACAA-39087D7F487F}"/>
              </a:ext>
            </a:extLst>
          </p:cNvPr>
          <p:cNvSpPr txBox="1"/>
          <p:nvPr/>
        </p:nvSpPr>
        <p:spPr>
          <a:xfrm>
            <a:off x="762000" y="533400"/>
            <a:ext cx="3810000" cy="22860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63707E"/>
                </a:solidFill>
                <a:latin typeface="Consolas"/>
                <a:ea typeface="Consolas"/>
              </a:rPr>
              <a:t>PLANO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E812C26-AD48-4BB9-9AC0-2405F2666C07}"/>
              </a:ext>
            </a:extLst>
          </p:cNvPr>
          <p:cNvSpPr txBox="1"/>
          <p:nvPr/>
        </p:nvSpPr>
        <p:spPr>
          <a:xfrm>
            <a:off x="762000" y="800100"/>
            <a:ext cx="10668000" cy="495300"/>
          </a:xfrm>
        </p:spPr>
        <p:txBody>
          <a:bodyPr wrap="square" rtlCol="0" lIns="0" tIns="0" rIns="0" bIns="0" anchor="ctr"/>
          <a:lstStyle/>
          <a:p>
            <a:pPr algn="l"/>
            <a:r>
              <a:rPr sz="3000" b="1">
                <a:solidFill>
                  <a:srgbClr val="D9E2EC"/>
                </a:solidFill>
                <a:latin typeface="Segoe UI"/>
                <a:ea typeface="Segoe UI"/>
              </a:rPr>
              <a:t>Um plano com risco, ordem e assinatura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1B17B55-4876-4D5B-A6D2-79B570A4928A}"/>
              </a:ext>
            </a:extLst>
          </p:cNvPr>
          <p:cNvSpPr/>
          <p:nvPr/>
        </p:nvSpPr>
        <p:spPr>
          <a:xfrm>
            <a:off x="762000" y="1619250"/>
            <a:ext cx="2524125" cy="21145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6B876A3-75B0-4825-854F-99F8DE6925CB}"/>
              </a:ext>
            </a:extLst>
          </p:cNvPr>
          <p:cNvSpPr/>
          <p:nvPr/>
        </p:nvSpPr>
        <p:spPr>
          <a:xfrm>
            <a:off x="3476625" y="1619250"/>
            <a:ext cx="2524125" cy="21145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D742008-83C7-4948-BE33-ABFAFFE57DC6}"/>
              </a:ext>
            </a:extLst>
          </p:cNvPr>
          <p:cNvSpPr/>
          <p:nvPr/>
        </p:nvSpPr>
        <p:spPr>
          <a:xfrm>
            <a:off x="6191250" y="1619250"/>
            <a:ext cx="2524125" cy="21145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03B7BA1-B223-4ECB-ACAF-9A3BB8E5E851}"/>
              </a:ext>
            </a:extLst>
          </p:cNvPr>
          <p:cNvSpPr/>
          <p:nvPr/>
        </p:nvSpPr>
        <p:spPr>
          <a:xfrm>
            <a:off x="8905875" y="1619250"/>
            <a:ext cx="2524125" cy="211455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0425BD-1C54-4523-8984-DE094A951571}"/>
              </a:ext>
            </a:extLst>
          </p:cNvPr>
          <p:cNvSpPr txBox="1"/>
          <p:nvPr/>
        </p:nvSpPr>
        <p:spPr>
          <a:xfrm>
            <a:off x="971550" y="1733550"/>
            <a:ext cx="2095500" cy="876300"/>
          </a:xfrm>
        </p:spPr>
        <p:txBody>
          <a:bodyPr wrap="square" rtlCol="0" lIns="0" tIns="0" rIns="0" bIns="0" anchor="ctr"/>
          <a:lstStyle/>
          <a:p>
            <a:pPr algn="l"/>
            <a:r>
              <a:rPr sz="5000" b="1">
                <a:solidFill>
                  <a:srgbClr val="4EA1FF"/>
                </a:solidFill>
                <a:latin typeface="Segoe UI"/>
                <a:ea typeface="Segoe UI"/>
              </a:rPr>
              <a:t>11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0BE002E-94D6-4EAB-9E49-D16F8F2896D7}"/>
              </a:ext>
            </a:extLst>
          </p:cNvPr>
          <p:cNvSpPr txBox="1"/>
          <p:nvPr/>
        </p:nvSpPr>
        <p:spPr>
          <a:xfrm>
            <a:off x="971550" y="2667000"/>
            <a:ext cx="20955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operações no plano parcial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330EC61-260C-4997-9B2F-2307AA6B8B16}"/>
              </a:ext>
            </a:extLst>
          </p:cNvPr>
          <p:cNvSpPr txBox="1"/>
          <p:nvPr/>
        </p:nvSpPr>
        <p:spPr>
          <a:xfrm>
            <a:off x="971550" y="3200400"/>
            <a:ext cx="2095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corrige só o que foi declarado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C18DC56-7C12-451D-9208-A94019BF61A7}"/>
              </a:ext>
            </a:extLst>
          </p:cNvPr>
          <p:cNvSpPr txBox="1"/>
          <p:nvPr/>
        </p:nvSpPr>
        <p:spPr>
          <a:xfrm>
            <a:off x="3686175" y="1733550"/>
            <a:ext cx="2095500" cy="876300"/>
          </a:xfrm>
        </p:spPr>
        <p:txBody>
          <a:bodyPr wrap="square" rtlCol="0" lIns="0" tIns="0" rIns="0" bIns="0" anchor="ctr"/>
          <a:lstStyle/>
          <a:p>
            <a:pPr algn="l"/>
            <a:r>
              <a:rPr sz="3400" b="1">
                <a:solidFill>
                  <a:srgbClr val="4EA1FF"/>
                </a:solidFill>
                <a:latin typeface="Segoe UI"/>
                <a:ea typeface="Segoe UI"/>
              </a:rPr>
              <a:t>5 / 4 / 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167D22C-34FA-46D2-96F8-1EE6749A16A4}"/>
              </a:ext>
            </a:extLst>
          </p:cNvPr>
          <p:cNvSpPr txBox="1"/>
          <p:nvPr/>
        </p:nvSpPr>
        <p:spPr>
          <a:xfrm>
            <a:off x="3686175" y="2667000"/>
            <a:ext cx="20955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risco baixo, médio e alto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1820AFB-8DED-4901-BF32-1906508D14BA}"/>
              </a:ext>
            </a:extLst>
          </p:cNvPr>
          <p:cNvSpPr txBox="1"/>
          <p:nvPr/>
        </p:nvSpPr>
        <p:spPr>
          <a:xfrm>
            <a:off x="3686175" y="3200400"/>
            <a:ext cx="2095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F0639A"/>
                </a:solidFill>
                <a:latin typeface="Segoe UI"/>
                <a:ea typeface="Segoe UI"/>
              </a:rPr>
              <a:t>2 alvos em grupo crítico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FA53621-64CE-486B-AADE-C83B0DF8039A}"/>
              </a:ext>
            </a:extLst>
          </p:cNvPr>
          <p:cNvSpPr txBox="1"/>
          <p:nvPr/>
        </p:nvSpPr>
        <p:spPr>
          <a:xfrm>
            <a:off x="6400800" y="1733550"/>
            <a:ext cx="2095500" cy="876300"/>
          </a:xfrm>
        </p:spPr>
        <p:txBody>
          <a:bodyPr wrap="square" rtlCol="0" lIns="0" tIns="0" rIns="0" bIns="0" anchor="ctr"/>
          <a:lstStyle/>
          <a:p>
            <a:pPr algn="l"/>
            <a:r>
              <a:rPr sz="5000" b="1">
                <a:solidFill>
                  <a:srgbClr val="4EA1FF"/>
                </a:solidFill>
                <a:latin typeface="Segoe UI"/>
                <a:ea typeface="Segoe UI"/>
              </a:rPr>
              <a:t>36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9174DED-6EC4-4D51-825D-DB1D32870A9D}"/>
              </a:ext>
            </a:extLst>
          </p:cNvPr>
          <p:cNvSpPr txBox="1"/>
          <p:nvPr/>
        </p:nvSpPr>
        <p:spPr>
          <a:xfrm>
            <a:off x="6400800" y="2667000"/>
            <a:ext cx="20955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operações em modo recursivo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F9FF014-72F5-416E-9DD5-2F4BC0A74BE2}"/>
              </a:ext>
            </a:extLst>
          </p:cNvPr>
          <p:cNvSpPr txBox="1"/>
          <p:nvPr/>
        </p:nvSpPr>
        <p:spPr>
          <a:xfrm>
            <a:off x="6400800" y="3200400"/>
            <a:ext cx="2095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27 delas de risco alto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E22AB64-6D10-400D-8C8F-2703EA0316E2}"/>
              </a:ext>
            </a:extLst>
          </p:cNvPr>
          <p:cNvSpPr txBox="1"/>
          <p:nvPr/>
        </p:nvSpPr>
        <p:spPr>
          <a:xfrm>
            <a:off x="9115425" y="1733550"/>
            <a:ext cx="2095500" cy="876300"/>
          </a:xfrm>
        </p:spPr>
        <p:txBody>
          <a:bodyPr wrap="square" rtlCol="0" lIns="0" tIns="0" rIns="0" bIns="0" anchor="ctr"/>
          <a:lstStyle/>
          <a:p>
            <a:pPr algn="l"/>
            <a:r>
              <a:rPr sz="5000" b="1">
                <a:solidFill>
                  <a:srgbClr val="4EA1FF"/>
                </a:solidFill>
                <a:latin typeface="Segoe UI"/>
                <a:ea typeface="Segoe UI"/>
              </a:rPr>
              <a:t>8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6C0E9B1-9996-415D-A398-4A945279B793}"/>
              </a:ext>
            </a:extLst>
          </p:cNvPr>
          <p:cNvSpPr txBox="1"/>
          <p:nvPr/>
        </p:nvSpPr>
        <p:spPr>
          <a:xfrm>
            <a:off x="9115425" y="2667000"/>
            <a:ext cx="20955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tipos de operação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8559FF2-B9CE-4F15-AE20-9C1608EFB604}"/>
              </a:ext>
            </a:extLst>
          </p:cNvPr>
          <p:cNvSpPr txBox="1"/>
          <p:nvPr/>
        </p:nvSpPr>
        <p:spPr>
          <a:xfrm>
            <a:off x="9115425" y="3200400"/>
            <a:ext cx="2095500" cy="4556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de criarUsuario a desativarUsuario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D2A01C8-AA88-4620-B1BE-3D5447197DED}"/>
              </a:ext>
            </a:extLst>
          </p:cNvPr>
          <p:cNvSpPr txBox="1"/>
          <p:nvPr/>
        </p:nvSpPr>
        <p:spPr>
          <a:xfrm>
            <a:off x="762000" y="3924300"/>
            <a:ext cx="3810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500" b="1">
                <a:solidFill>
                  <a:srgbClr val="8B99A8"/>
                </a:solidFill>
                <a:latin typeface="Segoe UI"/>
                <a:ea typeface="Segoe UI"/>
              </a:rPr>
              <a:t>Distribuição por risco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0716281-9D37-4A7B-BC6B-E746A3D23566}"/>
              </a:ext>
            </a:extLst>
          </p:cNvPr>
          <p:cNvSpPr txBox="1"/>
          <p:nvPr/>
        </p:nvSpPr>
        <p:spPr>
          <a:xfrm>
            <a:off x="762000" y="4305300"/>
            <a:ext cx="1238250" cy="266700"/>
          </a:xfrm>
        </p:spPr>
        <p:txBody>
          <a:bodyPr wrap="square" rtlCol="0" lIns="0" tIns="0" rIns="0" bIns="0" anchor="ctr"/>
          <a:lstStyle/>
          <a:p>
            <a:pPr algn="l"/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baixo · 5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34F18F06-4B04-47F5-B2F5-00ABEEDAC0CF}"/>
              </a:ext>
            </a:extLst>
          </p:cNvPr>
          <p:cNvSpPr/>
          <p:nvPr/>
        </p:nvSpPr>
        <p:spPr>
          <a:xfrm>
            <a:off x="2095500" y="4305300"/>
            <a:ext cx="6667500" cy="266700"/>
          </a:xfrm>
          <a:prstGeom prst="rect">
            <a:avLst/>
          </a:prstGeom>
          <a:solidFill>
            <a:srgbClr val="2B4B6B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5E8BFCE-5B46-439B-B5EC-93E100F99B3D}"/>
              </a:ext>
            </a:extLst>
          </p:cNvPr>
          <p:cNvSpPr txBox="1"/>
          <p:nvPr/>
        </p:nvSpPr>
        <p:spPr>
          <a:xfrm>
            <a:off x="762000" y="4762500"/>
            <a:ext cx="1238250" cy="266700"/>
          </a:xfrm>
        </p:spPr>
        <p:txBody>
          <a:bodyPr wrap="square" rtlCol="0" lIns="0" tIns="0" rIns="0" bIns="0" anchor="ctr"/>
          <a:lstStyle/>
          <a:p>
            <a:pPr algn="l"/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médio · 4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426F43F9-FE5C-481F-9EFF-58D3A3807ADB}"/>
              </a:ext>
            </a:extLst>
          </p:cNvPr>
          <p:cNvSpPr/>
          <p:nvPr/>
        </p:nvSpPr>
        <p:spPr>
          <a:xfrm>
            <a:off x="2095500" y="4762500"/>
            <a:ext cx="5334000" cy="266700"/>
          </a:xfrm>
          <a:prstGeom prst="rect">
            <a:avLst/>
          </a:prstGeom>
          <a:solidFill>
            <a:srgbClr val="4EA1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8780701-31A0-43EC-8763-013E7B60BCA7}"/>
              </a:ext>
            </a:extLst>
          </p:cNvPr>
          <p:cNvSpPr txBox="1"/>
          <p:nvPr/>
        </p:nvSpPr>
        <p:spPr>
          <a:xfrm>
            <a:off x="762000" y="5219700"/>
            <a:ext cx="1238250" cy="266700"/>
          </a:xfrm>
        </p:spPr>
        <p:txBody>
          <a:bodyPr wrap="square" rtlCol="0" lIns="0" tIns="0" rIns="0" bIns="0" anchor="ctr"/>
          <a:lstStyle/>
          <a:p>
            <a:pPr algn="l"/>
            <a:r>
              <a:rPr sz="1250">
                <a:solidFill>
                  <a:srgbClr val="8B99A8"/>
                </a:solidFill>
                <a:latin typeface="Segoe UI"/>
                <a:ea typeface="Segoe UI"/>
              </a:rPr>
              <a:t>alto · 2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47082BC1-CC2D-4EBD-B512-5C67A57E334D}"/>
              </a:ext>
            </a:extLst>
          </p:cNvPr>
          <p:cNvSpPr/>
          <p:nvPr/>
        </p:nvSpPr>
        <p:spPr>
          <a:xfrm>
            <a:off x="2095500" y="5219700"/>
            <a:ext cx="2667000" cy="266700"/>
          </a:xfrm>
          <a:prstGeom prst="rect">
            <a:avLst/>
          </a:prstGeom>
          <a:solidFill>
            <a:srgbClr val="F0639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00FE87AD-6374-4003-B641-648BDEB8F9F8}"/>
              </a:ext>
            </a:extLst>
          </p:cNvPr>
          <p:cNvSpPr/>
          <p:nvPr/>
        </p:nvSpPr>
        <p:spPr>
          <a:xfrm>
            <a:off x="762000" y="5715000"/>
            <a:ext cx="10668000" cy="9525"/>
          </a:xfrm>
          <a:prstGeom prst="rect">
            <a:avLst/>
          </a:prstGeom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184A060-9A97-4738-9169-902C5D0DD508}"/>
              </a:ext>
            </a:extLst>
          </p:cNvPr>
          <p:cNvSpPr txBox="1"/>
          <p:nvPr/>
        </p:nvSpPr>
        <p:spPr>
          <a:xfrm>
            <a:off x="762000" y="5796915"/>
            <a:ext cx="10668000" cy="350520"/>
          </a:xfrm>
        </p:spPr>
        <p:txBody>
          <a:bodyPr wrap="square" rtlCol="0" lIns="0" tIns="0" rIns="0" bIns="0" anchor="ctr"/>
          <a:lstStyle/>
          <a:p>
            <a:pPr algn="l"/>
            <a:r>
              <a:rPr sz="1150">
                <a:solidFill>
                  <a:srgbClr val="63707E"/>
                </a:solidFill>
                <a:latin typeface="Consolas"/>
                <a:ea typeface="Consolas"/>
              </a:rPr>
              <a:t>criarUsuario 1 · criarGrupo 1 · ajustarGrupo 1 · ajustarUsuario 1 · moverOU 1 · adicionarGrupo 2 · removerGrupo 2 · desativarUsuario 2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670CB08-B47A-4C0E-B7B4-015C1ACC2B2F}"/>
              </a:ext>
            </a:extLst>
          </p:cNvPr>
          <p:cNvSpPr txBox="1"/>
          <p:nvPr/>
        </p:nvSpPr>
        <p:spPr>
          <a:xfrm>
            <a:off x="762000" y="6210300"/>
            <a:ext cx="10668000" cy="285750"/>
          </a:xfrm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4EA1FF"/>
                </a:solidFill>
                <a:latin typeface="Consolas"/>
                <a:ea typeface="Consolas"/>
              </a:rPr>
              <a:t>assinatura 59e4a17444f89b82</a:t>
            </a:r>
            <a:r>
              <a:rPr sz="1200">
                <a:solidFill>
                  <a:srgbClr val="63707E"/>
                </a:solidFill>
                <a:latin typeface="Segoe UI"/>
                <a:ea typeface="Segoe UI"/>
              </a:rPr>
              <a:t>  ·  muda se uma chave mudar, e dá nome ao diário de reversão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DED9B78-F146-4312-B04D-26A97328C3C8}"/>
              </a:ext>
            </a:extLst>
          </p:cNvPr>
          <p:cNvSpPr txBox="1"/>
          <p:nvPr/>
        </p:nvSpPr>
        <p:spPr>
          <a:xfrm>
            <a:off x="762000" y="457200"/>
            <a:ext cx="8572500" cy="569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D9E2EC"/>
                </a:solidFill>
                <a:latin typeface="Segoe UI"/>
                <a:ea typeface="Segoe UI"/>
              </a:rPr>
              <a:t>O PowerShell que sai daqui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4F78821-D61E-4A42-BA9E-B25C2D2847E4}"/>
              </a:ext>
            </a:extLst>
          </p:cNvPr>
          <p:cNvSpPr txBox="1"/>
          <p:nvPr/>
        </p:nvSpPr>
        <p:spPr>
          <a:xfrm>
            <a:off x="762000" y="1066800"/>
            <a:ext cx="9525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8B99A8"/>
                </a:solidFill>
                <a:latin typeface="Segoe UI"/>
                <a:ea typeface="Segoe UI"/>
              </a:rPr>
              <a:t>210 linhas geradas a partir do plano · mesma assinatura · mesma ordem determinística · nada é digitado à mão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DA33918-FD5D-48A2-933D-DB3E94E78D42}"/>
              </a:ext>
            </a:extLst>
          </p:cNvPr>
          <p:cNvSpPr/>
          <p:nvPr/>
        </p:nvSpPr>
        <p:spPr>
          <a:xfrm>
            <a:off x="762000" y="1676400"/>
            <a:ext cx="5905500" cy="409575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6E005CC-F7A7-40F3-9239-8A09B8A58676}"/>
              </a:ext>
            </a:extLst>
          </p:cNvPr>
          <p:cNvSpPr txBox="1"/>
          <p:nvPr/>
        </p:nvSpPr>
        <p:spPr>
          <a:xfrm>
            <a:off x="990600" y="1866900"/>
            <a:ext cx="5448300" cy="39227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4EA1FF"/>
                </a:solidFill>
                <a:latin typeface="Consolas"/>
                <a:ea typeface="Consolas"/>
              </a:rPr>
              <a:t>function Invoke-IdentityPlan {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8B99A8"/>
                </a:solidFill>
                <a:latin typeface="Consolas"/>
                <a:ea typeface="Consolas"/>
              </a:rPr>
              <a:t>  [CmdletBinding(SupportsShouldProcess,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8B99A8"/>
                </a:solidFill>
                <a:latin typeface="Consolas"/>
                <a:ea typeface="Consolas"/>
              </a:rPr>
              <a:t>                 ConfirmImpact='High')]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param([switch]$Reverter, [string]$Diario)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63707E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Start-Transcript -Path $log -Append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63707E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3FB984"/>
                </a:solidFill>
                <a:latin typeface="Consolas"/>
                <a:ea typeface="Consolas"/>
              </a:rPr>
              <a:t>  # op 1/11 · risco alta · criarGrupo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if (-not (Get-ADGroup -Filter "Name -eq $n")) {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  New-ADGroup -Name $n -GroupScope Global `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    -Path 'OU=Grupos,DC=contoso,DC=local'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  $Journal.Add(@{Tipo='criarGrupo'; Alvo=$n})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8B99A8"/>
                </a:solidFill>
                <a:latin typeface="Consolas"/>
                <a:ea typeface="Consolas"/>
              </a:rPr>
              <a:t>  } else { Write-Host 'ja existe, pulando' }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63707E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if ($membro -notin (Get-ADGroupMember -Recursive $n) {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D9E2EC"/>
                </a:solidFill>
                <a:latin typeface="Consolas"/>
                <a:ea typeface="Consolas"/>
              </a:rPr>
              <a:t>      ).samAccountName) { Add-ADGroupMember ... }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63707E"/>
                </a:solidFill>
                <a:latin typeface="Consolas"/>
                <a:ea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F0639A"/>
                </a:solidFill>
                <a:latin typeface="Consolas"/>
                <a:ea typeface="Consolas"/>
              </a:rPr>
              <a:t>  try { ... } catch { Invoke-Revert -Diario $Journal }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C8ACC11-2614-4B2B-9CB2-8B3824A6FEF5}"/>
              </a:ext>
            </a:extLst>
          </p:cNvPr>
          <p:cNvSpPr/>
          <p:nvPr/>
        </p:nvSpPr>
        <p:spPr>
          <a:xfrm>
            <a:off x="7048500" y="1676400"/>
            <a:ext cx="4381500" cy="40957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48F64D-1133-446D-9638-712E50DBA1EA}"/>
              </a:ext>
            </a:extLst>
          </p:cNvPr>
          <p:cNvSpPr txBox="1"/>
          <p:nvPr/>
        </p:nvSpPr>
        <p:spPr>
          <a:xfrm>
            <a:off x="7277100" y="1866900"/>
            <a:ext cx="39243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4EA1FF"/>
                </a:solidFill>
                <a:latin typeface="Segoe UI"/>
                <a:ea typeface="Segoe UI"/>
              </a:rPr>
              <a:t>Por que o script é confiável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4B3A739-E163-489B-85C2-41A939C46B7B}"/>
              </a:ext>
            </a:extLst>
          </p:cNvPr>
          <p:cNvSpPr txBox="1"/>
          <p:nvPr/>
        </p:nvSpPr>
        <p:spPr>
          <a:xfrm>
            <a:off x="7277100" y="2266950"/>
            <a:ext cx="3924300" cy="3368675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E2EC"/>
                </a:solidFill>
                <a:latin typeface="Segoe UI"/>
                <a:ea typeface="Segoe UI"/>
              </a:rPr>
              <a:t>SupportsShouldProcess + ConfirmImpact High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O mesmo arquivo atende o dry-run e o apply; -WhatIf nunca é opcional.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E2EC"/>
                </a:solidFill>
                <a:latin typeface="Segoe UI"/>
                <a:ea typeface="Segoe UI"/>
              </a:rPr>
              <a:t>Guarda de idempotência em cada bloco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Get-ADGroup e Get-ADGroupMember -Recursive antes de todo New- ou Add-.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E2EC"/>
                </a:solidFill>
                <a:latin typeface="Segoe UI"/>
                <a:ea typeface="Segoe UI"/>
              </a:rPr>
              <a:t>Diário de execução em memória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Cada operação registra Tipo, Alvo, Membro e Antes — é o que alimenta a reversão.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E2EC"/>
                </a:solidFill>
                <a:latin typeface="Segoe UI"/>
                <a:ea typeface="Segoe UI"/>
              </a:rPr>
              <a:t>catch chama Invoke-Revert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Falhou no meio, o script desfaz o que ele mesmo fez, na ordem inversa.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D9E2EC"/>
                </a:solidFill>
                <a:latin typeface="Segoe UI"/>
                <a:ea typeface="Segoe UI"/>
              </a:rPr>
              <a:t>Transcript + Write-AuditEvent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Sessão gravada em CSV com a assinatura do plano aplicado.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A547D00-B3C5-4D13-9566-AA313B8D4FEF}"/>
              </a:ext>
            </a:extLst>
          </p:cNvPr>
          <p:cNvSpPr txBox="1"/>
          <p:nvPr/>
        </p:nvSpPr>
        <p:spPr>
          <a:xfrm>
            <a:off x="762000" y="6019800"/>
            <a:ext cx="10668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63707E"/>
                </a:solidFill>
                <a:latin typeface="Consolas"/>
                <a:ea typeface="Consolas"/>
              </a:rPr>
              <a:t>assinatura do plano: 59e4a17444f89b82 · 11 operações · modo parcial · gerado no navegador, baixável como .ps1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36B03A7E-401B-4167-BD37-524484AC7408}"/>
              </a:ext>
            </a:extLst>
          </p:cNvPr>
          <p:cNvSpPr txBox="1"/>
          <p:nvPr/>
        </p:nvSpPr>
        <p:spPr>
          <a:xfrm>
            <a:off x="762000" y="457200"/>
            <a:ext cx="9144000" cy="569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D9E2EC"/>
                </a:solidFill>
                <a:latin typeface="Segoe UI"/>
                <a:ea typeface="Segoe UI"/>
              </a:rPr>
              <a:t>Nada escreve no diretório sem aprovação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39BFDE9-2D60-4CD6-8698-348B6E12BA29}"/>
              </a:ext>
            </a:extLst>
          </p:cNvPr>
          <p:cNvSpPr txBox="1"/>
          <p:nvPr/>
        </p:nvSpPr>
        <p:spPr>
          <a:xfrm>
            <a:off x="762000" y="1066800"/>
            <a:ext cx="100965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8B99A8"/>
                </a:solidFill>
                <a:latin typeface="Segoe UI"/>
                <a:ea typeface="Segoe UI"/>
              </a:rPr>
              <a:t>A fila de requisições é o portão entre a intenção e o comando. Cada estado é uma transição auditada.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BCDC453-C48F-4F7C-8C55-8D41CC2C24C7}"/>
              </a:ext>
            </a:extLst>
          </p:cNvPr>
          <p:cNvSpPr/>
          <p:nvPr/>
        </p:nvSpPr>
        <p:spPr>
          <a:xfrm>
            <a:off x="762000" y="1905000"/>
            <a:ext cx="10839450" cy="19050"/>
          </a:xfrm>
          <a:prstGeom prst="rect">
            <a:avLst/>
          </a:prstGeom>
          <a:solidFill>
            <a:srgbClr val="26313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9E3DFA8-4F3E-40D0-AB97-0F4C660F4B3F}"/>
              </a:ext>
            </a:extLst>
          </p:cNvPr>
          <p:cNvSpPr/>
          <p:nvPr/>
        </p:nvSpPr>
        <p:spPr>
          <a:xfrm>
            <a:off x="1695450" y="1847850"/>
            <a:ext cx="133350" cy="133350"/>
          </a:xfrm>
          <a:prstGeom prst="ellipse">
            <a:avLst/>
          </a:prstGeom>
          <a:solidFill>
            <a:srgbClr val="4EA1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D8A4D6D9-0D9C-4A7E-9D80-02AB8EB01AFB}"/>
              </a:ext>
            </a:extLst>
          </p:cNvPr>
          <p:cNvSpPr/>
          <p:nvPr/>
        </p:nvSpPr>
        <p:spPr>
          <a:xfrm>
            <a:off x="3905250" y="1847850"/>
            <a:ext cx="133350" cy="133350"/>
          </a:xfrm>
          <a:prstGeom prst="ellipse">
            <a:avLst/>
          </a:prstGeom>
          <a:solidFill>
            <a:srgbClr val="4EA1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E318193-4CAE-4447-BDBE-2DAD0AC57CF0}"/>
              </a:ext>
            </a:extLst>
          </p:cNvPr>
          <p:cNvSpPr/>
          <p:nvPr/>
        </p:nvSpPr>
        <p:spPr>
          <a:xfrm>
            <a:off x="6115050" y="1847850"/>
            <a:ext cx="133350" cy="133350"/>
          </a:xfrm>
          <a:prstGeom prst="ellipse">
            <a:avLst/>
          </a:prstGeom>
          <a:solidFill>
            <a:srgbClr val="4EA1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07A6B1D-D684-49A7-AC20-4875587EC49A}"/>
              </a:ext>
            </a:extLst>
          </p:cNvPr>
          <p:cNvSpPr/>
          <p:nvPr/>
        </p:nvSpPr>
        <p:spPr>
          <a:xfrm>
            <a:off x="8324850" y="1847850"/>
            <a:ext cx="133350" cy="133350"/>
          </a:xfrm>
          <a:prstGeom prst="ellipse">
            <a:avLst/>
          </a:prstGeom>
          <a:solidFill>
            <a:srgbClr val="4EA1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EE9F164-8DA5-48D7-A40B-A79433E6AC97}"/>
              </a:ext>
            </a:extLst>
          </p:cNvPr>
          <p:cNvSpPr/>
          <p:nvPr/>
        </p:nvSpPr>
        <p:spPr>
          <a:xfrm>
            <a:off x="10534650" y="1847850"/>
            <a:ext cx="133350" cy="133350"/>
          </a:xfrm>
          <a:prstGeom prst="ellipse">
            <a:avLst/>
          </a:prstGeom>
          <a:solidFill>
            <a:srgbClr val="4EA1F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F024C2A-3B58-42DC-80CD-B23E143E80FB}"/>
              </a:ext>
            </a:extLst>
          </p:cNvPr>
          <p:cNvSpPr/>
          <p:nvPr/>
        </p:nvSpPr>
        <p:spPr>
          <a:xfrm>
            <a:off x="762000" y="2209800"/>
            <a:ext cx="200025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C1D3742-9116-4BD8-848B-BE298761A6A1}"/>
              </a:ext>
            </a:extLst>
          </p:cNvPr>
          <p:cNvSpPr/>
          <p:nvPr/>
        </p:nvSpPr>
        <p:spPr>
          <a:xfrm>
            <a:off x="2971800" y="2209800"/>
            <a:ext cx="2000250" cy="2000250"/>
          </a:xfrm>
          <a:prstGeom prst="roundRect">
            <a:avLst/>
          </a:prstGeom>
          <a:solidFill>
            <a:srgbClr val="1B2A3A"/>
          </a:solidFill>
          <a:ln w="15875">
            <a:solidFill>
              <a:srgbClr val="4EA1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64BDF9C-36CE-44BE-BA90-4B31F328285E}"/>
              </a:ext>
            </a:extLst>
          </p:cNvPr>
          <p:cNvSpPr/>
          <p:nvPr/>
        </p:nvSpPr>
        <p:spPr>
          <a:xfrm>
            <a:off x="5181600" y="2209800"/>
            <a:ext cx="200025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243031E-15ED-49AA-8D29-2D832D6D10DF}"/>
              </a:ext>
            </a:extLst>
          </p:cNvPr>
          <p:cNvSpPr/>
          <p:nvPr/>
        </p:nvSpPr>
        <p:spPr>
          <a:xfrm>
            <a:off x="7391400" y="2209800"/>
            <a:ext cx="200025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66D6BBF-2FDA-4E07-B139-BA50164B1CB3}"/>
              </a:ext>
            </a:extLst>
          </p:cNvPr>
          <p:cNvSpPr/>
          <p:nvPr/>
        </p:nvSpPr>
        <p:spPr>
          <a:xfrm>
            <a:off x="9601200" y="2209800"/>
            <a:ext cx="200025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D4E5C71-7A68-4008-99C8-830C8EF9709B}"/>
              </a:ext>
            </a:extLst>
          </p:cNvPr>
          <p:cNvSpPr txBox="1"/>
          <p:nvPr/>
        </p:nvSpPr>
        <p:spPr>
          <a:xfrm>
            <a:off x="933450" y="2400300"/>
            <a:ext cx="16573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1 · planejada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75A11E5-0C88-42DB-B771-E016B0211DF8}"/>
              </a:ext>
            </a:extLst>
          </p:cNvPr>
          <p:cNvSpPr txBox="1"/>
          <p:nvPr/>
        </p:nvSpPr>
        <p:spPr>
          <a:xfrm>
            <a:off x="3143250" y="2400300"/>
            <a:ext cx="16573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EA1FF"/>
                </a:solidFill>
                <a:latin typeface="Segoe UI"/>
                <a:ea typeface="Segoe UI"/>
              </a:rPr>
              <a:t>2 · aprovada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BEB321A-40A2-432A-8114-A305483FC7BD}"/>
              </a:ext>
            </a:extLst>
          </p:cNvPr>
          <p:cNvSpPr txBox="1"/>
          <p:nvPr/>
        </p:nvSpPr>
        <p:spPr>
          <a:xfrm>
            <a:off x="5353050" y="2400300"/>
            <a:ext cx="16573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3 · dry-run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7D0533C-762B-420B-96AE-C8195018B944}"/>
              </a:ext>
            </a:extLst>
          </p:cNvPr>
          <p:cNvSpPr txBox="1"/>
          <p:nvPr/>
        </p:nvSpPr>
        <p:spPr>
          <a:xfrm>
            <a:off x="7562850" y="2400300"/>
            <a:ext cx="16573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4 · concluída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786A9C4-D54C-4C73-9BB5-2649FAECA8AB}"/>
              </a:ext>
            </a:extLst>
          </p:cNvPr>
          <p:cNvSpPr txBox="1"/>
          <p:nvPr/>
        </p:nvSpPr>
        <p:spPr>
          <a:xfrm>
            <a:off x="9772650" y="2400300"/>
            <a:ext cx="165735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5 · revertida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74B3345-08F2-45AF-82FC-9647ABBC98EC}"/>
              </a:ext>
            </a:extLst>
          </p:cNvPr>
          <p:cNvSpPr txBox="1"/>
          <p:nvPr/>
        </p:nvSpPr>
        <p:spPr>
          <a:xfrm>
            <a:off x="933450" y="2857500"/>
            <a:ext cx="165735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8B99A8"/>
                </a:solidFill>
                <a:latin typeface="Segoe UI"/>
                <a:ea typeface="Segoe UI"/>
              </a:rPr>
              <a:t>Nasce do formulário com as operações declaradas. Zero contato com o AD.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80B73B07-841C-416D-BFDA-A18A668401BC}"/>
              </a:ext>
            </a:extLst>
          </p:cNvPr>
          <p:cNvSpPr txBox="1"/>
          <p:nvPr/>
        </p:nvSpPr>
        <p:spPr>
          <a:xfrm>
            <a:off x="3143250" y="2857500"/>
            <a:ext cx="165735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8B99A8"/>
                </a:solidFill>
                <a:latin typeface="Segoe UI"/>
                <a:ea typeface="Segoe UI"/>
              </a:rPr>
              <a:t>Outra pessoa aprova. O plano é assinado por hash nesse instante.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5572B91-15CE-4C78-B6FC-B94BDFF38170}"/>
              </a:ext>
            </a:extLst>
          </p:cNvPr>
          <p:cNvSpPr txBox="1"/>
          <p:nvPr/>
        </p:nvSpPr>
        <p:spPr>
          <a:xfrm>
            <a:off x="5353050" y="2857500"/>
            <a:ext cx="165735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8B99A8"/>
                </a:solidFill>
                <a:latin typeface="Segoe UI"/>
                <a:ea typeface="Segoe UI"/>
              </a:rPr>
              <a:t>O mesmo script com -WhatIf mostra o que vai mudar antes de mudar.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666E633-C8B2-4881-B385-71A750C15079}"/>
              </a:ext>
            </a:extLst>
          </p:cNvPr>
          <p:cNvSpPr txBox="1"/>
          <p:nvPr/>
        </p:nvSpPr>
        <p:spPr>
          <a:xfrm>
            <a:off x="7562850" y="2857500"/>
            <a:ext cx="165735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8B99A8"/>
                </a:solidFill>
                <a:latin typeface="Segoe UI"/>
                <a:ea typeface="Segoe UI"/>
              </a:rPr>
              <a:t>Aplica as operações e grava o diário que torna a ação reversível.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46AE3AC-6F17-47DD-ABAF-2137330D1B53}"/>
              </a:ext>
            </a:extLst>
          </p:cNvPr>
          <p:cNvSpPr txBox="1"/>
          <p:nvPr/>
        </p:nvSpPr>
        <p:spPr>
          <a:xfrm>
            <a:off x="9772650" y="2857500"/>
            <a:ext cx="1657350" cy="1028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8B99A8"/>
                </a:solidFill>
                <a:latin typeface="Segoe UI"/>
                <a:ea typeface="Segoe UI"/>
              </a:rPr>
              <a:t>Desfaz na ordem inversa usando o diário. O estado volta ao declarado.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9EDD4CA-9212-47DB-8310-0D4E5284D4F4}"/>
              </a:ext>
            </a:extLst>
          </p:cNvPr>
          <p:cNvSpPr txBox="1"/>
          <p:nvPr/>
        </p:nvSpPr>
        <p:spPr>
          <a:xfrm>
            <a:off x="933450" y="3905250"/>
            <a:ext cx="16573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REQ-2026-109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963E984D-2565-4C35-ABE9-E95088C99722}"/>
              </a:ext>
            </a:extLst>
          </p:cNvPr>
          <p:cNvSpPr txBox="1"/>
          <p:nvPr/>
        </p:nvSpPr>
        <p:spPr>
          <a:xfrm>
            <a:off x="3143250" y="3905250"/>
            <a:ext cx="16573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4EA1FF"/>
                </a:solidFill>
                <a:latin typeface="Consolas"/>
                <a:ea typeface="Consolas"/>
              </a:rPr>
              <a:t>aprovador != pedinte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3163B40-EA04-4FF0-A227-0E870F72847E}"/>
              </a:ext>
            </a:extLst>
          </p:cNvPr>
          <p:cNvSpPr txBox="1"/>
          <p:nvPr/>
        </p:nvSpPr>
        <p:spPr>
          <a:xfrm>
            <a:off x="5353050" y="3905250"/>
            <a:ext cx="16573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11 operações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84996FED-C1CD-4BB7-83EB-58565A7426D5}"/>
              </a:ext>
            </a:extLst>
          </p:cNvPr>
          <p:cNvSpPr txBox="1"/>
          <p:nvPr/>
        </p:nvSpPr>
        <p:spPr>
          <a:xfrm>
            <a:off x="7562850" y="3905250"/>
            <a:ext cx="16573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$Journal gravado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63CE732E-FEAA-4AAB-8B21-EF408F0A42CC}"/>
              </a:ext>
            </a:extLst>
          </p:cNvPr>
          <p:cNvSpPr txBox="1"/>
          <p:nvPr/>
        </p:nvSpPr>
        <p:spPr>
          <a:xfrm>
            <a:off x="9772650" y="3905250"/>
            <a:ext cx="1657350" cy="2286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Invoke-Revert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8D7EB8C7-3778-4D8E-86B6-74E0902AA6C5}"/>
              </a:ext>
            </a:extLst>
          </p:cNvPr>
          <p:cNvSpPr/>
          <p:nvPr/>
        </p:nvSpPr>
        <p:spPr>
          <a:xfrm>
            <a:off x="762000" y="4572000"/>
            <a:ext cx="10839450" cy="1238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7BFF852-047B-41FB-88E6-4EB250DDC39C}"/>
              </a:ext>
            </a:extLst>
          </p:cNvPr>
          <p:cNvSpPr txBox="1"/>
          <p:nvPr/>
        </p:nvSpPr>
        <p:spPr>
          <a:xfrm>
            <a:off x="990600" y="4762500"/>
            <a:ext cx="10382250" cy="9144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Segregação de funções não é promessa de documento, é validação de código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Aprovar a própria requisição devolve “o aprovador precisa ser distinto do solicitante” e grava AprovacaoRecusada na cadeia de auditoria.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Aplicar sem aprovação é bloqueado no mesmo ponto, e dois pares de grupos conflituosos são checados antes de qualquer concessão.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61B0806-38D9-4AE0-9837-81F2DCA855EA}"/>
              </a:ext>
            </a:extLst>
          </p:cNvPr>
          <p:cNvSpPr txBox="1"/>
          <p:nvPr/>
        </p:nvSpPr>
        <p:spPr>
          <a:xfrm>
            <a:off x="762000" y="457200"/>
            <a:ext cx="8572500" cy="569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D9E2EC"/>
                </a:solidFill>
                <a:latin typeface="Segoe UI"/>
                <a:ea typeface="Segoe UI"/>
              </a:rPr>
              <a:t>Governança que vira número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84BBA9E-D9A7-4C6A-93F4-E109054B2AC2}"/>
              </a:ext>
            </a:extLst>
          </p:cNvPr>
          <p:cNvSpPr txBox="1"/>
          <p:nvPr/>
        </p:nvSpPr>
        <p:spPr>
          <a:xfrm>
            <a:off x="762000" y="1066800"/>
            <a:ext cx="10668000" cy="46939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8B99A8"/>
                </a:solidFill>
                <a:latin typeface="Segoe UI"/>
                <a:ea typeface="Segoe UI"/>
              </a:rPr>
              <a:t>O motor percorre as 36 contas do inventário de demonstração e devolve uma nota, uma lista de achados e a correção declarativa de cada um.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4EC21FF-2EC3-4E52-94BA-AEBDA2CD8569}"/>
              </a:ext>
            </a:extLst>
          </p:cNvPr>
          <p:cNvSpPr/>
          <p:nvPr/>
        </p:nvSpPr>
        <p:spPr>
          <a:xfrm>
            <a:off x="762000" y="1714500"/>
            <a:ext cx="533400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1456838-68D8-4D89-9A18-A0E9B12BCC15}"/>
              </a:ext>
            </a:extLst>
          </p:cNvPr>
          <p:cNvSpPr/>
          <p:nvPr/>
        </p:nvSpPr>
        <p:spPr>
          <a:xfrm>
            <a:off x="6286500" y="1714500"/>
            <a:ext cx="533400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15E39D3-8958-480B-8CA8-D3BD557EF886}"/>
              </a:ext>
            </a:extLst>
          </p:cNvPr>
          <p:cNvSpPr/>
          <p:nvPr/>
        </p:nvSpPr>
        <p:spPr>
          <a:xfrm>
            <a:off x="762000" y="3905250"/>
            <a:ext cx="533400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6CD8C5B-A4B7-46E4-9158-C112A02EB335}"/>
              </a:ext>
            </a:extLst>
          </p:cNvPr>
          <p:cNvSpPr/>
          <p:nvPr/>
        </p:nvSpPr>
        <p:spPr>
          <a:xfrm>
            <a:off x="6286500" y="3905250"/>
            <a:ext cx="5334000" cy="2000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DE866AC-BB36-4993-9ECD-F73BB59C5313}"/>
              </a:ext>
            </a:extLst>
          </p:cNvPr>
          <p:cNvSpPr txBox="1"/>
          <p:nvPr/>
        </p:nvSpPr>
        <p:spPr>
          <a:xfrm>
            <a:off x="990600" y="188595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4EA1FF"/>
                </a:solidFill>
                <a:latin typeface="Segoe UI"/>
                <a:ea typeface="Segoe UI"/>
              </a:rPr>
              <a:t>59,2% </a:t>
            </a:r>
            <a:r>
              <a:rPr sz="1500">
                <a:solidFill>
                  <a:srgbClr val="8B99A8"/>
                </a:solidFill>
                <a:latin typeface="Segoe UI"/>
                <a:ea typeface="Segoe UI"/>
              </a:rPr>
              <a:t>de conformidade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4BC3A54-6242-456E-814B-702C6AE5F12F}"/>
              </a:ext>
            </a:extLst>
          </p:cNvPr>
          <p:cNvSpPr txBox="1"/>
          <p:nvPr/>
        </p:nvSpPr>
        <p:spPr>
          <a:xfrm>
            <a:off x="990600" y="2667000"/>
            <a:ext cx="4876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14 achados em 8 contas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D5A19DA-F7F9-472D-BF75-C55FC7FD1C04}"/>
              </a:ext>
            </a:extLst>
          </p:cNvPr>
          <p:cNvSpPr txBox="1"/>
          <p:nvPr/>
        </p:nvSpPr>
        <p:spPr>
          <a:xfrm>
            <a:off x="990600" y="297180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A nota não cai por falta de regra: caem por vínculo residual, conta dormente e externa dentro de grupo interno.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532CB34-FF89-4011-A033-86138A6A16F5}"/>
              </a:ext>
            </a:extLst>
          </p:cNvPr>
          <p:cNvSpPr txBox="1"/>
          <p:nvPr/>
        </p:nvSpPr>
        <p:spPr>
          <a:xfrm>
            <a:off x="6515100" y="188595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4EA1FF"/>
                </a:solidFill>
                <a:latin typeface="Segoe UI"/>
                <a:ea typeface="Segoe UI"/>
              </a:rPr>
              <a:t>8 regras </a:t>
            </a:r>
            <a:r>
              <a:rPr sz="1500">
                <a:solidFill>
                  <a:srgbClr val="8B99A8"/>
                </a:solidFill>
                <a:latin typeface="Segoe UI"/>
                <a:ea typeface="Segoe UI"/>
              </a:rPr>
              <a:t>por snapshot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19DCDC-0D01-4FED-ADAB-EE3C80499E19}"/>
              </a:ext>
            </a:extLst>
          </p:cNvPr>
          <p:cNvSpPr txBox="1"/>
          <p:nvPr/>
        </p:nvSpPr>
        <p:spPr>
          <a:xfrm>
            <a:off x="6515100" y="2667000"/>
            <a:ext cx="4876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Dormente · vínculo residual · menor privilégio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A6E39F0-03B1-4B35-A605-D2074DD8DBDA}"/>
              </a:ext>
            </a:extLst>
          </p:cNvPr>
          <p:cNvSpPr txBox="1"/>
          <p:nvPr/>
        </p:nvSpPr>
        <p:spPr>
          <a:xfrm>
            <a:off x="6515100" y="297180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Mais OU fora do padrão, grupo crítico vazio, externo em grupo interno e externo sem acesso. Cada regra tem peso e penalidade por conta.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71C5865-DA7C-4BCE-96C4-07D40CED0186}"/>
              </a:ext>
            </a:extLst>
          </p:cNvPr>
          <p:cNvSpPr txBox="1"/>
          <p:nvPr/>
        </p:nvSpPr>
        <p:spPr>
          <a:xfrm>
            <a:off x="990600" y="407670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0639A"/>
                </a:solidFill>
                <a:latin typeface="Segoe UI"/>
                <a:ea typeface="Segoe UI"/>
              </a:rPr>
              <a:t>2 pares </a:t>
            </a:r>
            <a:r>
              <a:rPr sz="1500">
                <a:solidFill>
                  <a:srgbClr val="8B99A8"/>
                </a:solidFill>
                <a:latin typeface="Segoe UI"/>
                <a:ea typeface="Segoe UI"/>
              </a:rPr>
              <a:t>de SoD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7661774-9512-49D5-861C-B53E9383BD0D}"/>
              </a:ext>
            </a:extLst>
          </p:cNvPr>
          <p:cNvSpPr txBox="1"/>
          <p:nvPr/>
        </p:nvSpPr>
        <p:spPr>
          <a:xfrm>
            <a:off x="990600" y="4857750"/>
            <a:ext cx="4876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Emitir + aprovar nunca na mesma conta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2C71DB9-C97C-4608-B3D3-C8E92D57D80F}"/>
              </a:ext>
            </a:extLst>
          </p:cNvPr>
          <p:cNvSpPr txBox="1"/>
          <p:nvPr/>
        </p:nvSpPr>
        <p:spPr>
          <a:xfrm>
            <a:off x="990600" y="516255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GG_FINANCEIRO_APROVAR com GG_FINANCEIRO_EMITIR, e GG_CONHAS_CONSULTA com GG_FINANCEIRO_EMITIR. O conflito aparece antes de aprovar.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3689B98E-FCB7-4B18-BC98-3B6E1009D5CF}"/>
              </a:ext>
            </a:extLst>
          </p:cNvPr>
          <p:cNvSpPr txBox="1"/>
          <p:nvPr/>
        </p:nvSpPr>
        <p:spPr>
          <a:xfrm>
            <a:off x="6515100" y="407670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4EA1FF"/>
                </a:solidFill>
                <a:latin typeface="Segoe UI"/>
                <a:ea typeface="Segoe UI"/>
              </a:rPr>
              <a:t>1 clique </a:t>
            </a:r>
            <a:r>
              <a:rPr sz="1500">
                <a:solidFill>
                  <a:srgbClr val="8B99A8"/>
                </a:solidFill>
                <a:latin typeface="Segoe UI"/>
                <a:ea typeface="Segoe UI"/>
              </a:rPr>
              <a:t>para remendar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BAC8F99-3483-40FA-9B6A-17BE75210B72}"/>
              </a:ext>
            </a:extLst>
          </p:cNvPr>
          <p:cNvSpPr txBox="1"/>
          <p:nvPr/>
        </p:nvSpPr>
        <p:spPr>
          <a:xfrm>
            <a:off x="6515100" y="4857750"/>
            <a:ext cx="48768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D9E2EC"/>
                </a:solidFill>
                <a:latin typeface="Segoe UI"/>
                <a:ea typeface="Segoe UI"/>
              </a:rPr>
              <a:t>Cada achado carrega a operação que o corrige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4498964-9DD8-421D-A30D-FF01782BEBBF}"/>
              </a:ext>
            </a:extLst>
          </p:cNvPr>
          <p:cNvSpPr txBox="1"/>
          <p:nvPr/>
        </p:nvSpPr>
        <p:spPr>
          <a:xfrm>
            <a:off x="6515100" y="5162550"/>
            <a:ext cx="4876800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O console transforma o desvio em linha do estado desejado, abre requisição e deixa o resto com a mesma fila de aprovação.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ED0B1A5-AA55-403B-8E53-B693833C35A5}"/>
              </a:ext>
            </a:extLst>
          </p:cNvPr>
          <p:cNvSpPr txBox="1"/>
          <p:nvPr/>
        </p:nvSpPr>
        <p:spPr>
          <a:xfrm>
            <a:off x="762000" y="6134100"/>
            <a:ext cx="10668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63707E"/>
                </a:solidFill>
                <a:latin typeface="Consolas"/>
                <a:ea typeface="Consolas"/>
              </a:rPr>
              <a:t>menor privilégio avaliado por setor · penalidade por conta tem teto, para uma conta ruim não derrubar a nota do diretório inteiro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33C1449-B860-44F5-AFDC-D1DDED4A153C}"/>
              </a:ext>
            </a:extLst>
          </p:cNvPr>
          <p:cNvSpPr txBox="1"/>
          <p:nvPr/>
        </p:nvSpPr>
        <p:spPr>
          <a:xfrm>
            <a:off x="762000" y="457200"/>
            <a:ext cx="9525000" cy="569976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D9E2EC"/>
                </a:solidFill>
                <a:latin typeface="Segoe UI"/>
                <a:ea typeface="Segoe UI"/>
              </a:rPr>
              <a:t>Auditoria que prova que não foi editada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168F7BD-2987-49AB-884F-795E5DE2B484}"/>
              </a:ext>
            </a:extLst>
          </p:cNvPr>
          <p:cNvSpPr txBox="1"/>
          <p:nvPr/>
        </p:nvSpPr>
        <p:spPr>
          <a:xfrm>
            <a:off x="762000" y="1066800"/>
            <a:ext cx="10668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8B99A8"/>
                </a:solidFill>
                <a:latin typeface="Segoe UI"/>
                <a:ea typeface="Segoe UI"/>
              </a:rPr>
              <a:t>Cada evento é assinado com o hash do anterior. Reescrever o passado quebra a cadeia e a quebra aponta a posição exata.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5B96205-EA43-41D2-B615-E0D50E092069}"/>
              </a:ext>
            </a:extLst>
          </p:cNvPr>
          <p:cNvSpPr/>
          <p:nvPr/>
        </p:nvSpPr>
        <p:spPr>
          <a:xfrm>
            <a:off x="762000" y="1619250"/>
            <a:ext cx="2524125" cy="190500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5FADCC9-F7BD-4AE7-A36D-EEE5976ED6B1}"/>
              </a:ext>
            </a:extLst>
          </p:cNvPr>
          <p:cNvSpPr/>
          <p:nvPr/>
        </p:nvSpPr>
        <p:spPr>
          <a:xfrm>
            <a:off x="3476625" y="1619250"/>
            <a:ext cx="2524125" cy="190500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19BB0D4-E79D-4DCE-B2EF-08B7958A60D0}"/>
              </a:ext>
            </a:extLst>
          </p:cNvPr>
          <p:cNvSpPr/>
          <p:nvPr/>
        </p:nvSpPr>
        <p:spPr>
          <a:xfrm>
            <a:off x="6191250" y="1619250"/>
            <a:ext cx="2524125" cy="190500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2F8763E-41E3-442F-87AC-768B6DF36720}"/>
              </a:ext>
            </a:extLst>
          </p:cNvPr>
          <p:cNvSpPr/>
          <p:nvPr/>
        </p:nvSpPr>
        <p:spPr>
          <a:xfrm>
            <a:off x="8905875" y="1619250"/>
            <a:ext cx="2524125" cy="190500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5FDA54-8BF2-405C-B988-EDD6102E86CA}"/>
              </a:ext>
            </a:extLst>
          </p:cNvPr>
          <p:cNvSpPr txBox="1"/>
          <p:nvPr/>
        </p:nvSpPr>
        <p:spPr>
          <a:xfrm>
            <a:off x="933450" y="1733550"/>
            <a:ext cx="2181225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4EA1FF"/>
                </a:solidFill>
                <a:latin typeface="Segoe UI"/>
                <a:ea typeface="Segoe UI"/>
              </a:rPr>
              <a:t>4.363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043C0BB-F98A-43C8-A825-75620A63A36C}"/>
              </a:ext>
            </a:extLst>
          </p:cNvPr>
          <p:cNvSpPr txBox="1"/>
          <p:nvPr/>
        </p:nvSpPr>
        <p:spPr>
          <a:xfrm>
            <a:off x="3648075" y="1733550"/>
            <a:ext cx="2181225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4EA1FF"/>
                </a:solidFill>
                <a:latin typeface="Segoe UI"/>
                <a:ea typeface="Segoe UI"/>
              </a:rPr>
              <a:t>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DB084D6-CAC5-41BF-8BBC-EAF091B60B23}"/>
              </a:ext>
            </a:extLst>
          </p:cNvPr>
          <p:cNvSpPr txBox="1"/>
          <p:nvPr/>
        </p:nvSpPr>
        <p:spPr>
          <a:xfrm>
            <a:off x="6362700" y="1733550"/>
            <a:ext cx="2181225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4EA1FF"/>
                </a:solidFill>
                <a:latin typeface="Segoe UI"/>
                <a:ea typeface="Segoe UI"/>
              </a:rPr>
              <a:t>16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1BEA686-D0C7-4931-A429-76A5B59AA472}"/>
              </a:ext>
            </a:extLst>
          </p:cNvPr>
          <p:cNvSpPr txBox="1"/>
          <p:nvPr/>
        </p:nvSpPr>
        <p:spPr>
          <a:xfrm>
            <a:off x="9077325" y="1733550"/>
            <a:ext cx="2181225" cy="723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4EA1FF"/>
                </a:solidFill>
                <a:latin typeface="Segoe UI"/>
                <a:ea typeface="Segoe UI"/>
              </a:rPr>
              <a:t>1 clique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67540C1-FFFB-486C-94C1-40869FA8EC1B}"/>
              </a:ext>
            </a:extLst>
          </p:cNvPr>
          <p:cNvSpPr txBox="1"/>
          <p:nvPr/>
        </p:nvSpPr>
        <p:spPr>
          <a:xfrm>
            <a:off x="933450" y="251460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linhas em 12 arquivos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33458D7-0EBA-4982-8C87-81344C578E09}"/>
              </a:ext>
            </a:extLst>
          </p:cNvPr>
          <p:cNvSpPr txBox="1"/>
          <p:nvPr/>
        </p:nvSpPr>
        <p:spPr>
          <a:xfrm>
            <a:off x="3648075" y="251460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campos reescritos no log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20CC959-AFBC-4B27-B299-514C16D3CF92}"/>
              </a:ext>
            </a:extLst>
          </p:cNvPr>
          <p:cNvSpPr txBox="1"/>
          <p:nvPr/>
        </p:nvSpPr>
        <p:spPr>
          <a:xfrm>
            <a:off x="6362700" y="251460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hex dígitos por elo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08052BC-E510-4B64-9627-E086EC3B28A1}"/>
              </a:ext>
            </a:extLst>
          </p:cNvPr>
          <p:cNvSpPr txBox="1"/>
          <p:nvPr/>
        </p:nvSpPr>
        <p:spPr>
          <a:xfrm>
            <a:off x="9077325" y="2514600"/>
            <a:ext cx="2181225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para quebrar a cadeia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C5DEEF8-74D2-4241-94CC-2A6096F05458}"/>
              </a:ext>
            </a:extLst>
          </p:cNvPr>
          <p:cNvSpPr txBox="1"/>
          <p:nvPr/>
        </p:nvSpPr>
        <p:spPr>
          <a:xfrm>
            <a:off x="933450" y="2819400"/>
            <a:ext cx="2181225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Sem build, sem backend: tudo roda no navegador e persiste em localStorage.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FF5343D-3C97-42DB-948E-A7D998523B35}"/>
              </a:ext>
            </a:extLst>
          </p:cNvPr>
          <p:cNvSpPr txBox="1"/>
          <p:nvPr/>
        </p:nvSpPr>
        <p:spPr>
          <a:xfrm>
            <a:off x="3648075" y="2819400"/>
            <a:ext cx="2181225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O registro é append-only: depois de gravado, o evento não tem onde ser editado.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13E1724-7D89-4E04-BADC-CB69E01770B2}"/>
              </a:ext>
            </a:extLst>
          </p:cNvPr>
          <p:cNvSpPr txBox="1"/>
          <p:nvPr/>
        </p:nvSpPr>
        <p:spPr>
          <a:xfrm>
            <a:off x="6362700" y="2819400"/>
            <a:ext cx="2181225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FNV-1a em duas passadas sobre o corpo do evento somado ao hash anterior.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FDECCE5-0EE1-4B0E-BA2C-C475AF1CF44A}"/>
              </a:ext>
            </a:extLst>
          </p:cNvPr>
          <p:cNvSpPr txBox="1"/>
          <p:nvPr/>
        </p:nvSpPr>
        <p:spPr>
          <a:xfrm>
            <a:off x="9077325" y="2819400"/>
            <a:ext cx="2181225" cy="628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“Simular adulteração” altera um evento e a validação acusa o elo rompido.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ABAD37E2-99E3-4A15-B355-5ACE73726B22}"/>
              </a:ext>
            </a:extLst>
          </p:cNvPr>
          <p:cNvSpPr/>
          <p:nvPr/>
        </p:nvSpPr>
        <p:spPr>
          <a:xfrm>
            <a:off x="762000" y="4191000"/>
            <a:ext cx="2381250" cy="91440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1F9E059-3605-46AA-B607-ACADA8F3F8EF}"/>
              </a:ext>
            </a:extLst>
          </p:cNvPr>
          <p:cNvSpPr/>
          <p:nvPr/>
        </p:nvSpPr>
        <p:spPr>
          <a:xfrm>
            <a:off x="3524250" y="4191000"/>
            <a:ext cx="2381250" cy="91440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E80AD62-7D1B-46ED-BC23-00238BA6DAD2}"/>
              </a:ext>
            </a:extLst>
          </p:cNvPr>
          <p:cNvSpPr/>
          <p:nvPr/>
        </p:nvSpPr>
        <p:spPr>
          <a:xfrm>
            <a:off x="6286500" y="4191000"/>
            <a:ext cx="2381250" cy="91440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2B4B6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6E3B5BB5-EA22-40ED-BA18-272C3E2A8727}"/>
              </a:ext>
            </a:extLst>
          </p:cNvPr>
          <p:cNvSpPr/>
          <p:nvPr/>
        </p:nvSpPr>
        <p:spPr>
          <a:xfrm>
            <a:off x="9048750" y="4191000"/>
            <a:ext cx="2381250" cy="914400"/>
          </a:xfrm>
          <a:prstGeom prst="roundRect">
            <a:avLst/>
          </a:prstGeom>
          <a:solidFill>
            <a:srgbClr val="12202C"/>
          </a:solidFill>
          <a:ln w="15875">
            <a:solidFill>
              <a:srgbClr val="4EA1F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5F12F1A4-A933-4D95-AF6B-195E8F71ED1C}"/>
              </a:ext>
            </a:extLst>
          </p:cNvPr>
          <p:cNvSpPr/>
          <p:nvPr/>
        </p:nvSpPr>
        <p:spPr>
          <a:xfrm>
            <a:off x="3143250" y="4533900"/>
            <a:ext cx="323850" cy="228600"/>
          </a:xfrm>
          <a:prstGeom prst="rightArrow">
            <a:avLst/>
          </a:prstGeom>
          <a:solidFill>
            <a:srgbClr val="26313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4368CD17-5B17-4AF0-87DF-997BE7189A98}"/>
              </a:ext>
            </a:extLst>
          </p:cNvPr>
          <p:cNvSpPr/>
          <p:nvPr/>
        </p:nvSpPr>
        <p:spPr>
          <a:xfrm>
            <a:off x="5905500" y="4533900"/>
            <a:ext cx="323850" cy="228600"/>
          </a:xfrm>
          <a:prstGeom prst="rightArrow">
            <a:avLst/>
          </a:prstGeom>
          <a:solidFill>
            <a:srgbClr val="26313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EDF0D566-8A71-4AD4-B506-4BD37400BD08}"/>
              </a:ext>
            </a:extLst>
          </p:cNvPr>
          <p:cNvSpPr/>
          <p:nvPr/>
        </p:nvSpPr>
        <p:spPr>
          <a:xfrm>
            <a:off x="8667750" y="4533900"/>
            <a:ext cx="323850" cy="228600"/>
          </a:xfrm>
          <a:prstGeom prst="rightArrow">
            <a:avLst/>
          </a:prstGeom>
          <a:solidFill>
            <a:srgbClr val="26313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CCC329B-77EC-428C-9113-F7410BBC2B86}"/>
              </a:ext>
            </a:extLst>
          </p:cNvPr>
          <p:cNvSpPr txBox="1"/>
          <p:nvPr/>
        </p:nvSpPr>
        <p:spPr>
          <a:xfrm>
            <a:off x="933450" y="4362450"/>
            <a:ext cx="2038350" cy="609651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D9E2EC"/>
                </a:solidFill>
                <a:latin typeface="Segoe UI"/>
                <a:ea typeface="Segoe UI"/>
              </a:rPr>
              <a:t>RequisicaoAberta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prev ················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8B99A8"/>
                </a:solidFill>
                <a:latin typeface="Consolas"/>
                <a:ea typeface="Consolas"/>
              </a:rPr>
              <a:t>hash 7c1f9be2a4d0e158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F7B2094-89C0-4CBC-89C7-87349E1981F6}"/>
              </a:ext>
            </a:extLst>
          </p:cNvPr>
          <p:cNvSpPr txBox="1"/>
          <p:nvPr/>
        </p:nvSpPr>
        <p:spPr>
          <a:xfrm>
            <a:off x="3695700" y="4362450"/>
            <a:ext cx="2038350" cy="609651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D9E2EC"/>
                </a:solidFill>
                <a:latin typeface="Segoe UI"/>
                <a:ea typeface="Segoe UI"/>
              </a:rPr>
              <a:t>Aprovacao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prev 7c1f9be2a4d0e158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8B99A8"/>
                </a:solidFill>
                <a:latin typeface="Consolas"/>
                <a:ea typeface="Consolas"/>
              </a:rPr>
              <a:t>hash b2d8410af6e3c977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BE9F8B4-7594-46B4-B286-5F15B22E19B8}"/>
              </a:ext>
            </a:extLst>
          </p:cNvPr>
          <p:cNvSpPr txBox="1"/>
          <p:nvPr/>
        </p:nvSpPr>
        <p:spPr>
          <a:xfrm>
            <a:off x="6457950" y="4362450"/>
            <a:ext cx="2038350" cy="609651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D9E2EC"/>
                </a:solidFill>
                <a:latin typeface="Segoe UI"/>
                <a:ea typeface="Segoe UI"/>
              </a:rPr>
              <a:t>DryRunAplicado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prev b2d8410af6e3c977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8B99A8"/>
                </a:solidFill>
                <a:latin typeface="Consolas"/>
                <a:ea typeface="Consolas"/>
              </a:rPr>
              <a:t>hash 90ac5d2e17b6f304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B45211F9-23C6-4A44-A39A-6593B0932B63}"/>
              </a:ext>
            </a:extLst>
          </p:cNvPr>
          <p:cNvSpPr txBox="1"/>
          <p:nvPr/>
        </p:nvSpPr>
        <p:spPr>
          <a:xfrm>
            <a:off x="9220200" y="4362450"/>
            <a:ext cx="2038350" cy="609651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>
                <a:solidFill>
                  <a:srgbClr val="4EA1FF"/>
                </a:solidFill>
                <a:latin typeface="Segoe UI"/>
                <a:ea typeface="Segoe UI"/>
              </a:rPr>
              <a:t>Aplicacao · assinatura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63707E"/>
                </a:solidFill>
                <a:latin typeface="Consolas"/>
                <a:ea typeface="Consolas"/>
              </a:rPr>
              <a:t>prev 90ac5d2e17b6f304</a:t>
            </a:r>
          </a:p>
          <a:p>
            <a:pPr algn="l">
              <a:lnSpc>
                <a:spcPct val="110000"/>
              </a:lnSpc>
            </a:pPr>
            <a:r>
              <a:rPr sz="1050">
                <a:solidFill>
                  <a:srgbClr val="8B99A8"/>
                </a:solidFill>
                <a:latin typeface="Consolas"/>
                <a:ea typeface="Consolas"/>
              </a:rPr>
              <a:t>hash 59e4a17444f89b82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66CDC86-06ED-42D7-981F-CB79510A7018}"/>
              </a:ext>
            </a:extLst>
          </p:cNvPr>
          <p:cNvSpPr txBox="1"/>
          <p:nvPr/>
        </p:nvSpPr>
        <p:spPr>
          <a:xfrm>
            <a:off x="762000" y="5391150"/>
            <a:ext cx="10668000" cy="2667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200">
                <a:solidFill>
                  <a:srgbClr val="8B99A8"/>
                </a:solidFill>
                <a:latin typeface="Segoe UI"/>
                <a:ea typeface="Segoe UI"/>
              </a:rPr>
              <a:t>validarCadeia() recalcula o hash de cada evento a partir do corpo e do prev; qualquer byte alterado muda o resultado e a divergência aparece no índice do elo.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E8E1276-6E99-4005-A831-00C17A2124C4}"/>
              </a:ext>
            </a:extLst>
          </p:cNvPr>
          <p:cNvSpPr txBox="1"/>
          <p:nvPr/>
        </p:nvSpPr>
        <p:spPr>
          <a:xfrm>
            <a:off x="762000" y="6134100"/>
            <a:ext cx="10668000" cy="2476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150">
                <a:solidFill>
                  <a:srgbClr val="63707E"/>
                </a:solidFill>
                <a:latin typeface="Consolas"/>
                <a:ea typeface="Consolas"/>
              </a:rPr>
              <a:t> hashes de exemplo apenas ilustram o formato · os números de código e a assinatura do plano são os reais da demonstração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A5F536C1-94AA-470D-B3BF-BAEE2A2EA3A8}"/>
              </a:ext>
            </a:extLst>
          </p:cNvPr>
          <p:cNvSpPr/>
          <p:nvPr/>
        </p:nvSpPr>
        <p:spPr>
          <a:xfrm>
            <a:off x="5238750" y="723900"/>
            <a:ext cx="1714500" cy="57150"/>
          </a:xfrm>
          <a:prstGeom prst="rect">
            <a:avLst/>
          </a:prstGeom>
          <a:solidFill>
            <a:srgbClr val="12202C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184A96A-2117-42FA-BAFD-535C5EF7055F}"/>
              </a:ext>
            </a:extLst>
          </p:cNvPr>
          <p:cNvSpPr txBox="1"/>
          <p:nvPr/>
        </p:nvSpPr>
        <p:spPr>
          <a:xfrm>
            <a:off x="762000" y="990600"/>
            <a:ext cx="10668000" cy="637032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3800" b="1">
                <a:solidFill>
                  <a:srgbClr val="D9E2EC"/>
                </a:solidFill>
                <a:latin typeface="Segoe UI"/>
                <a:ea typeface="Segoe UI"/>
              </a:rPr>
              <a:t>O que está no ar e o que vem depois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ACA499B-A349-410B-A733-6ECDE196EF44}"/>
              </a:ext>
            </a:extLst>
          </p:cNvPr>
          <p:cNvSpPr txBox="1"/>
          <p:nvPr/>
        </p:nvSpPr>
        <p:spPr>
          <a:xfrm>
            <a:off x="762000" y="1619250"/>
            <a:ext cx="10668000" cy="2857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400">
                <a:solidFill>
                  <a:srgbClr val="8B99A8"/>
                </a:solidFill>
                <a:latin typeface="Segoe UI"/>
                <a:ea typeface="Segoe UI"/>
              </a:rPr>
              <a:t>Onze derivações detectadas, zero comandos digitados à mão — o resto é publicar e levar para um controlador de domínio real.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7E4EBBC-6EB4-413B-912A-6481AB2A34AE}"/>
              </a:ext>
            </a:extLst>
          </p:cNvPr>
          <p:cNvSpPr/>
          <p:nvPr/>
        </p:nvSpPr>
        <p:spPr>
          <a:xfrm>
            <a:off x="1333500" y="2190750"/>
            <a:ext cx="4572000" cy="3143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6568FDF-2C50-403B-BF94-1B0B78E7242C}"/>
              </a:ext>
            </a:extLst>
          </p:cNvPr>
          <p:cNvSpPr/>
          <p:nvPr/>
        </p:nvSpPr>
        <p:spPr>
          <a:xfrm>
            <a:off x="6286500" y="2190750"/>
            <a:ext cx="4572000" cy="3143250"/>
          </a:xfrm>
          <a:prstGeom prst="roundRect">
            <a:avLst/>
          </a:prstGeom>
          <a:solidFill>
            <a:srgbClr val="161D27"/>
          </a:solidFill>
          <a:ln w="12700">
            <a:solidFill>
              <a:srgbClr val="26313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9730B4C-5A0A-4695-9BB2-6009C164CB23}"/>
              </a:ext>
            </a:extLst>
          </p:cNvPr>
          <p:cNvSpPr txBox="1"/>
          <p:nvPr/>
        </p:nvSpPr>
        <p:spPr>
          <a:xfrm>
            <a:off x="1562100" y="2381250"/>
            <a:ext cx="41148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EA1FF"/>
                </a:solidFill>
                <a:latin typeface="Segoe UI"/>
                <a:ea typeface="Segoe UI"/>
              </a:rPr>
              <a:t>No ar agora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2FEC6B-C784-4891-90E6-199D7CF15A42}"/>
              </a:ext>
            </a:extLst>
          </p:cNvPr>
          <p:cNvSpPr txBox="1"/>
          <p:nvPr/>
        </p:nvSpPr>
        <p:spPr>
          <a:xfrm>
            <a:off x="6515100" y="2381250"/>
            <a:ext cx="41148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EA1FF"/>
                </a:solidFill>
                <a:latin typeface="Segoe UI"/>
                <a:ea typeface="Segoe UI"/>
              </a:rPr>
              <a:t>Próximos passos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C003799-D58A-49FE-91F5-F4C09E7F79C9}"/>
              </a:ext>
            </a:extLst>
          </p:cNvPr>
          <p:cNvSpPr txBox="1"/>
          <p:nvPr/>
        </p:nvSpPr>
        <p:spPr>
          <a:xfrm>
            <a:off x="1562100" y="2762250"/>
            <a:ext cx="41148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Repositório público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8B99A8"/>
                </a:solidFill>
                <a:latin typeface="Consolas"/>
                <a:ea typeface="Consolas"/>
              </a:rPr>
              <a:t>github.com/Vitorvieira42/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8B99A8"/>
                </a:solidFill>
                <a:latin typeface="Consolas"/>
                <a:ea typeface="Consolas"/>
              </a:rPr>
              <a:t>console-automacao-identidade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Publicado no GitHub Pages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8B99A8"/>
                </a:solidFill>
                <a:latin typeface="Consolas"/>
                <a:ea typeface="Consolas"/>
              </a:rPr>
              <a:t>vitorvieira42.github.io/console-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100">
                <a:solidFill>
                  <a:srgbClr val="8B99A8"/>
                </a:solidFill>
                <a:latin typeface="Consolas"/>
                <a:ea typeface="Consolas"/>
              </a:rPr>
              <a:t>automacao-identidade</a:t>
            </a:r>
          </a:p>
          <a:p>
            <a:pPr algn="l">
              <a:lnSpc>
                <a:spcPct val="118000"/>
              </a:lnSpc>
            </a:pPr>
            <a:r>
              <a:rPr sz="1200">
                <a:solidFill>
                  <a:srgbClr val="D9E2EC"/>
                </a:solidFill>
                <a:latin typeface="Segoe UI"/>
                <a:ea typeface="Segoe UI"/>
              </a:rPr>
              <a:t>Abrir o index.html já funciona: sem build, sem backend, sem npm install.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CD7D56F-7B42-4EC1-9F5B-6021098490CC}"/>
              </a:ext>
            </a:extLst>
          </p:cNvPr>
          <p:cNvSpPr txBox="1"/>
          <p:nvPr/>
        </p:nvSpPr>
        <p:spPr>
          <a:xfrm>
            <a:off x="6515100" y="2762250"/>
            <a:ext cx="4114800" cy="2381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1 · Rodar o script num DC de laboratório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Comparar o transcript do -WhatIf com o plano.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2 · PSScriptAnalyzer como portão de CI</a:t>
            </a:r>
          </a:p>
          <a:p>
            <a:pPr algn="l">
              <a:lnSpc>
                <a:spcPct val="118000"/>
              </a:lnSpc>
              <a:spcAft>
                <a:spcPts val="1400"/>
              </a:spcAft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A análise estática valida o PowerShell gerado.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>
                <a:solidFill>
                  <a:srgbClr val="D9E2EC"/>
                </a:solidFill>
                <a:latin typeface="Segoe UI"/>
                <a:ea typeface="Segoe UI"/>
              </a:rPr>
              <a:t>3 · Importar uma OU de teste real</a:t>
            </a:r>
          </a:p>
          <a:p>
            <a:pPr algn="l">
              <a:lnSpc>
                <a:spcPct val="118000"/>
              </a:lnSpc>
            </a:pPr>
            <a:r>
              <a:rPr sz="1150">
                <a:solidFill>
                  <a:srgbClr val="8B99A8"/>
                </a:solidFill>
                <a:latin typeface="Segoe UI"/>
                <a:ea typeface="Segoe UI"/>
              </a:rPr>
              <a:t>Trocar o inventário sintético por um export.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90B75A2-B2B8-4E2E-8A48-2ED342B80B7E}"/>
              </a:ext>
            </a:extLst>
          </p:cNvPr>
          <p:cNvSpPr txBox="1"/>
          <p:nvPr/>
        </p:nvSpPr>
        <p:spPr>
          <a:xfrm>
            <a:off x="762000" y="5676900"/>
            <a:ext cx="10668000" cy="2667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200">
                <a:solidFill>
                  <a:srgbClr val="63707E"/>
                </a:solidFill>
                <a:latin typeface="Segoe UI"/>
                <a:ea typeface="Segoe UI"/>
              </a:rPr>
              <a:t>Console de Automação de Identidade · Active Directory como Código · demonstração com dados sintéticos da Contoso, sem contas reais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A158A73-DD60-496F-90C9-75F122A8D260}"/>
              </a:ext>
            </a:extLst>
          </p:cNvPr>
          <p:cNvSpPr txBox="1"/>
          <p:nvPr/>
        </p:nvSpPr>
        <p:spPr>
          <a:xfrm>
            <a:off x="762000" y="6038850"/>
            <a:ext cx="10668000" cy="24765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4EA1FF"/>
                </a:solidFill>
                <a:latin typeface="Consolas"/>
                <a:ea typeface="Consolas"/>
              </a:rPr>
              <a:t>declarar o estado · detectar a deriva · assinar o plano · aprovar antes de escrever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F077B3D-4F92-4A3C-B687-B38E40C2B5F5}"/>
              </a:ext>
            </a:extLst>
          </p:cNvPr>
          <p:cNvSpPr/>
          <p:nvPr/>
        </p:nvSpPr>
        <p:spPr>
          <a:xfrm>
            <a:off x="7239000" y="1143000"/>
            <a:ext cx="4191000" cy="4476750"/>
          </a:xfrm>
          <a:prstGeom prst="roundRect">
            <a:avLst/>
          </a:prstGeom>
          <a:solidFill>
            <a:srgbClr val="12202C"/>
          </a:solidFill>
          <a:ln w="12700">
            <a:solidFill>
              <a:srgbClr val="1D2A3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3464BC3-4E13-4171-9560-DB8149FA7094}"/>
              </a:ext>
            </a:extLst>
          </p:cNvPr>
          <p:cNvSpPr txBox="1"/>
          <p:nvPr/>
        </p:nvSpPr>
        <p:spPr>
          <a:xfrm>
            <a:off x="7524750" y="1428750"/>
            <a:ext cx="3619500" cy="3905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4EA1FF"/>
                </a:solidFill>
                <a:latin typeface="Consolas"/>
                <a:ea typeface="Consolas"/>
              </a:rPr>
              <a:t>PS DC01\&gt; .\Consolidar-Identidade.ps1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  declaração ......... válida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  derivação ........ 11 operações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  risco alto ......... 2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  alvos críticos ....... 2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D9E2EC"/>
                </a:solidFill>
                <a:latin typeface="Consolas"/>
                <a:ea typeface="Consolas"/>
              </a:rPr>
              <a:t>  plano .. 59e4a17444f89b82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  whatif ............. ok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  aplicar ........ aprovado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8B99A8"/>
                </a:solidFill>
                <a:latin typeface="Consolas"/>
                <a:ea typeface="Consolas"/>
              </a:rPr>
              <a:t>  diário ......... journal/*.json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3FB984"/>
                </a:solidFill>
                <a:latin typeface="Consolas"/>
                <a:ea typeface="Consolas"/>
              </a:rPr>
              <a:t>  reverter ......... pronto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52D6C32-FBAD-4578-BF32-26B9B78E18BC}"/>
              </a:ext>
            </a:extLst>
          </p:cNvPr>
          <p:cNvSpPr txBox="1"/>
          <p:nvPr/>
        </p:nvSpPr>
        <p:spPr>
          <a:xfrm>
            <a:off x="762000" y="800100"/>
            <a:ext cx="5715000" cy="285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EA1FF"/>
                </a:solidFill>
                <a:latin typeface="Segoe UI"/>
                <a:ea typeface="Segoe UI"/>
              </a:rPr>
              <a:t>ACTIVE DIRECTORY COMO CÓDIGO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4681F35-2055-4225-9837-FC55848FC889}"/>
              </a:ext>
            </a:extLst>
          </p:cNvPr>
          <p:cNvSpPr txBox="1"/>
          <p:nvPr/>
        </p:nvSpPr>
        <p:spPr>
          <a:xfrm>
            <a:off x="762000" y="1200150"/>
            <a:ext cx="6096000" cy="2476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D9E2EC"/>
                </a:solidFill>
                <a:latin typeface="Segoe UI"/>
                <a:ea typeface="Segoe UI"/>
              </a:rPr>
              <a:t>Console de</a:t>
            </a:r>
          </a:p>
          <a:p>
            <a:pPr algn="l">
              <a:lnSpc>
                <a:spcPct val="108000"/>
              </a:lnSpc>
            </a:pPr>
            <a:r>
              <a:rPr sz="4600" b="1">
                <a:solidFill>
                  <a:srgbClr val="D9E2EC"/>
                </a:solidFill>
                <a:latin typeface="Segoe UI"/>
                <a:ea typeface="Segoe UI"/>
              </a:rPr>
              <a:t>Automação de</a:t>
            </a:r>
          </a:p>
          <a:p>
            <a:pPr algn="l">
              <a:lnSpc>
                <a:spcPct val="108000"/>
              </a:lnSpc>
            </a:pPr>
            <a:r>
              <a:rPr sz="4600" b="1">
                <a:solidFill>
                  <a:srgbClr val="D9E2EC"/>
                </a:solidFill>
                <a:latin typeface="Segoe UI"/>
                <a:ea typeface="Segoe UI"/>
              </a:rPr>
              <a:t>Identidade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601CF23-9CBB-4B97-BE35-95F8A5F9B922}"/>
              </a:ext>
            </a:extLst>
          </p:cNvPr>
          <p:cNvSpPr txBox="1"/>
          <p:nvPr/>
        </p:nvSpPr>
        <p:spPr>
          <a:xfrm>
            <a:off x="762000" y="3848100"/>
            <a:ext cx="59055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8B99A8"/>
                </a:solidFill>
                <a:latin typeface="Segoe UI"/>
                <a:ea typeface="Segoe UI"/>
              </a:rPr>
              <a:t>Estado desejado declarativo, detecção de derivação, plano idempotente e PowerShell real com -WhatIf, diário de reversão, fila de requisições com aprovação e auditoria acorrentada.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E3AFCEA-9787-4A86-905E-DB294E559058}"/>
              </a:ext>
            </a:extLst>
          </p:cNvPr>
          <p:cNvSpPr/>
          <p:nvPr/>
        </p:nvSpPr>
        <p:spPr>
          <a:xfrm>
            <a:off x="762000" y="5676900"/>
            <a:ext cx="6096000" cy="9525"/>
          </a:xfrm>
          <a:prstGeom prst="rect">
            <a:avLst/>
          </a:prstGeom>
          <a:solidFill>
            <a:srgbClr val="26313F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A6465C9-3A68-4D7C-BCA1-F651506F93BD}"/>
              </a:ext>
            </a:extLst>
          </p:cNvPr>
          <p:cNvSpPr txBox="1"/>
          <p:nvPr/>
        </p:nvSpPr>
        <p:spPr>
          <a:xfrm>
            <a:off x="762000" y="5867400"/>
            <a:ext cx="60960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4EA1FF"/>
                </a:solidFill>
                <a:latin typeface="Consolas"/>
                <a:ea typeface="Consolas"/>
              </a:rPr>
              <a:t>github.com/Vitorvieira42/console-automacao-identidade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63707E"/>
                </a:solidFill>
                <a:latin typeface="Consolas"/>
                <a:ea typeface="Consolas"/>
              </a:rPr>
              <a:t>vitorvieira42.github.io/console-automacao-identidade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